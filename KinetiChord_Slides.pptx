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362895" cy="2286000"/>
          </a:xfrm>
          <a:prstGeom prst="rect">
            <a:avLst/>
          </a:prstGeom>
          <a:noFill/>
        </p:spPr>
        <p:txBody>
          <a:bodyPr wrap="square">
            <a:spAutoFit/>
          </a:bodyPr>
          <a:lstStyle/>
          <a:p>
            <a:pPr algn="ctr">
              <a:defRPr sz="8400" b="1">
                <a:solidFill>
                  <a:srgbClr val="FFFFFF"/>
                </a:solidFill>
                <a:latin typeface="Outfit"/>
              </a:defRPr>
            </a:pPr>
            <a:r>
              <a:t>KinetiChord</a:t>
            </a:r>
          </a:p>
          <a:p>
            <a:pPr algn="ctr">
              <a:spcBef>
                <a:spcPts val="1500"/>
              </a:spcBef>
              <a:defRPr sz="2200">
                <a:solidFill>
                  <a:srgbClr val="9F8FB3"/>
                </a:solidFill>
                <a:latin typeface="Noto Sans JP"/>
              </a:defRPr>
            </a:pPr>
            <a:r>
              <a:t>身体と感情のダイナミズムが織りなす、極限の音響＆ビジュアル共鳴アート</a:t>
            </a:r>
          </a:p>
        </p:txBody>
      </p:sp>
      <p:sp>
        <p:nvSpPr>
          <p:cNvPr id="4" name="Rectangle 3"/>
          <p:cNvSpPr/>
          <p:nvPr/>
        </p:nvSpPr>
        <p:spPr>
          <a:xfrm>
            <a:off x="4266590" y="4023360"/>
            <a:ext cx="3657600" cy="36576"/>
          </a:xfrm>
          <a:prstGeom prst="rect">
            <a:avLst/>
          </a:prstGeom>
          <a:solidFill>
            <a:srgbClr val="FF2A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389120"/>
            <a:ext cx="10362895" cy="1828800"/>
          </a:xfrm>
          <a:prstGeom prst="rect">
            <a:avLst/>
          </a:prstGeom>
          <a:noFill/>
        </p:spPr>
        <p:txBody>
          <a:bodyPr wrap="none">
            <a:spAutoFit/>
          </a:bodyPr>
          <a:lstStyle/>
          <a:p>
            <a:pPr algn="ctr">
              <a:defRPr sz="1400">
                <a:solidFill>
                  <a:srgbClr val="FFFFFF"/>
                </a:solidFill>
                <a:latin typeface="Outfit"/>
              </a:defRPr>
            </a:pPr>
            <a:r>
              <a:t>Developer: maa0917 // Gemini AI Hackathon 2026</a:t>
            </a:r>
          </a:p>
          <a:p>
            <a:pPr algn="ctr">
              <a:spcBef>
                <a:spcPts val="800"/>
              </a:spcBef>
              <a:defRPr sz="1200">
                <a:solidFill>
                  <a:srgbClr val="00F0FF"/>
                </a:solidFill>
                <a:latin typeface="Outfit"/>
              </a:defRPr>
            </a:pPr>
            <a:r>
              <a:t>synth-flow-1038264562195.us-central1.run.app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1097280"/>
            <a:ext cx="10820095" cy="13716"/>
          </a:xfrm>
          <a:prstGeom prst="rect">
            <a:avLst/>
          </a:prstGeom>
          <a:solidFill>
            <a:srgbClr val="281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0040"/>
            <a:ext cx="4572000" cy="731520"/>
          </a:xfrm>
          <a:prstGeom prst="rect">
            <a:avLst/>
          </a:prstGeom>
          <a:noFill/>
        </p:spPr>
        <p:txBody>
          <a:bodyPr wrap="square">
            <a:spAutoFit/>
          </a:bodyPr>
          <a:lstStyle/>
          <a:p>
            <a:pPr>
              <a:defRPr sz="2400" b="1">
                <a:solidFill>
                  <a:srgbClr val="FF2A85"/>
                </a:solidFill>
                <a:latin typeface="Outfit"/>
              </a:defRPr>
            </a:pPr>
            <a:r>
              <a:t>✦ KinetiChord</a:t>
            </a:r>
          </a:p>
        </p:txBody>
      </p:sp>
      <p:sp>
        <p:nvSpPr>
          <p:cNvPr id="5" name="TextBox 4"/>
          <p:cNvSpPr txBox="1"/>
          <p:nvPr/>
        </p:nvSpPr>
        <p:spPr>
          <a:xfrm>
            <a:off x="7772400" y="365760"/>
            <a:ext cx="3733495" cy="731520"/>
          </a:xfrm>
          <a:prstGeom prst="rect">
            <a:avLst/>
          </a:prstGeom>
          <a:noFill/>
        </p:spPr>
        <p:txBody>
          <a:bodyPr wrap="none">
            <a:spAutoFit/>
          </a:bodyPr>
          <a:lstStyle/>
          <a:p>
            <a:pPr algn="r">
              <a:defRPr sz="1100" b="1">
                <a:solidFill>
                  <a:srgbClr val="00F0FF"/>
                </a:solidFill>
                <a:latin typeface="Outfit"/>
              </a:defRPr>
            </a:pPr>
            <a:r>
              <a:t>01. BACKGROUND &amp; CONCEPT</a:t>
            </a:r>
          </a:p>
        </p:txBody>
      </p:sp>
      <p:sp>
        <p:nvSpPr>
          <p:cNvPr id="6" name="TextBox 5"/>
          <p:cNvSpPr txBox="1"/>
          <p:nvPr/>
        </p:nvSpPr>
        <p:spPr>
          <a:xfrm>
            <a:off x="685800" y="1234440"/>
            <a:ext cx="10820095" cy="731520"/>
          </a:xfrm>
          <a:prstGeom prst="rect">
            <a:avLst/>
          </a:prstGeom>
          <a:noFill/>
        </p:spPr>
        <p:txBody>
          <a:bodyPr wrap="none">
            <a:spAutoFit/>
          </a:bodyPr>
          <a:lstStyle/>
          <a:p>
            <a:pPr>
              <a:defRPr sz="3200" b="1">
                <a:solidFill>
                  <a:srgbClr val="FFFFFF"/>
                </a:solidFill>
                <a:latin typeface="Noto Sans JP"/>
              </a:defRPr>
            </a:pPr>
            <a:r>
              <a:t>開発背景とコア・コンセプト</a:t>
            </a:r>
          </a:p>
        </p:txBody>
      </p:sp>
      <p:sp>
        <p:nvSpPr>
          <p:cNvPr id="7" name="Rectangle 6"/>
          <p:cNvSpPr/>
          <p:nvPr/>
        </p:nvSpPr>
        <p:spPr>
          <a:xfrm>
            <a:off x="685800" y="6126480"/>
            <a:ext cx="10820095" cy="13716"/>
          </a:xfrm>
          <a:prstGeom prst="rect">
            <a:avLst/>
          </a:prstGeom>
          <a:solidFill>
            <a:srgbClr val="1E0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6172200"/>
            <a:ext cx="5486400" cy="457200"/>
          </a:xfrm>
          <a:prstGeom prst="rect">
            <a:avLst/>
          </a:prstGeom>
          <a:noFill/>
        </p:spPr>
        <p:txBody>
          <a:bodyPr wrap="none">
            <a:spAutoFit/>
          </a:bodyPr>
          <a:lstStyle/>
          <a:p>
            <a:pPr>
              <a:defRPr sz="1000">
                <a:solidFill>
                  <a:srgbClr val="9F8FB3"/>
                </a:solidFill>
                <a:latin typeface="Outfit"/>
              </a:defRPr>
            </a:pPr>
            <a:r>
              <a:t>Gemini AI Hackathon 2026 // Presentation Deck</a:t>
            </a:r>
          </a:p>
        </p:txBody>
      </p:sp>
      <p:sp>
        <p:nvSpPr>
          <p:cNvPr id="9" name="TextBox 8"/>
          <p:cNvSpPr txBox="1"/>
          <p:nvPr/>
        </p:nvSpPr>
        <p:spPr>
          <a:xfrm>
            <a:off x="9601200" y="6172200"/>
            <a:ext cx="1904695" cy="457200"/>
          </a:xfrm>
          <a:prstGeom prst="rect">
            <a:avLst/>
          </a:prstGeom>
          <a:noFill/>
        </p:spPr>
        <p:txBody>
          <a:bodyPr wrap="none">
            <a:spAutoFit/>
          </a:bodyPr>
          <a:lstStyle/>
          <a:p>
            <a:pPr algn="r">
              <a:defRPr sz="1100" b="1">
                <a:solidFill>
                  <a:srgbClr val="FFFFFF"/>
                </a:solidFill>
                <a:latin typeface="Outfit"/>
              </a:defRPr>
            </a:pPr>
            <a:r>
              <a:t>Page 02</a:t>
            </a:r>
          </a:p>
        </p:txBody>
      </p:sp>
      <p:sp>
        <p:nvSpPr>
          <p:cNvPr id="10" name="Rounded Rectangle 9"/>
          <p:cNvSpPr/>
          <p:nvPr/>
        </p:nvSpPr>
        <p:spPr>
          <a:xfrm>
            <a:off x="685800" y="2103120"/>
            <a:ext cx="5120640" cy="3657600"/>
          </a:xfrm>
          <a:prstGeom prst="roundRect">
            <a:avLst/>
          </a:prstGeom>
          <a:solidFill>
            <a:srgbClr val="160B26"/>
          </a:solidFill>
          <a:ln w="19050">
            <a:solidFill>
              <a:srgbClr val="3C1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240280"/>
            <a:ext cx="4754880" cy="3383280"/>
          </a:xfrm>
          <a:prstGeom prst="rect">
            <a:avLst/>
          </a:prstGeom>
          <a:noFill/>
        </p:spPr>
        <p:txBody>
          <a:bodyPr wrap="square">
            <a:spAutoFit/>
          </a:bodyPr>
          <a:lstStyle/>
          <a:p>
            <a:pPr>
              <a:spcAft>
                <a:spcPts val="1200"/>
              </a:spcAft>
              <a:defRPr sz="1800" b="1">
                <a:solidFill>
                  <a:srgbClr val="FF2A85"/>
                </a:solidFill>
                <a:latin typeface="Noto Sans JP"/>
              </a:defRPr>
            </a:pPr>
            <a:r>
              <a:t>✦ 現代のデジタルアートの課題</a:t>
            </a:r>
          </a:p>
          <a:p>
            <a:pPr>
              <a:spcAft>
                <a:spcPts val="600"/>
              </a:spcAft>
              <a:defRPr sz="1200">
                <a:solidFill>
                  <a:srgbClr val="FFFFFF"/>
                </a:solidFill>
                <a:latin typeface="Noto Sans JP"/>
              </a:defRPr>
            </a:pPr>
            <a:r>
              <a:t>• 「静観」から抜け出せない体験: 画面の向こう側の鑑賞にとどまり、身体感覚と切り離されている。</a:t>
            </a:r>
          </a:p>
          <a:p>
            <a:pPr>
              <a:spcAft>
                <a:spcPts val="600"/>
              </a:spcAft>
              <a:defRPr sz="1200">
                <a:solidFill>
                  <a:srgbClr val="FFFFFF"/>
                </a:solidFill>
                <a:latin typeface="Noto Sans JP"/>
              </a:defRPr>
            </a:pPr>
            <a:r>
              <a:t>• 双方向性の希薄さ: 単一のマウスクリックや固定ボタン操作のみといった、単調なインタラクションの限界。</a:t>
            </a:r>
          </a:p>
          <a:p>
            <a:pPr>
              <a:spcAft>
                <a:spcPts val="600"/>
              </a:spcAft>
              <a:defRPr sz="1200">
                <a:solidFill>
                  <a:srgbClr val="FFFFFF"/>
                </a:solidFill>
                <a:latin typeface="Noto Sans JP"/>
              </a:defRPr>
            </a:pPr>
            <a:r>
              <a:t>• 感情の未反映: ユーザーのその瞬間の感情や心のゆらぎが、表現の挙動にダイレクトに反映されない。</a:t>
            </a:r>
          </a:p>
        </p:txBody>
      </p:sp>
      <p:sp>
        <p:nvSpPr>
          <p:cNvPr id="12" name="Rounded Rectangle 11"/>
          <p:cNvSpPr/>
          <p:nvPr/>
        </p:nvSpPr>
        <p:spPr>
          <a:xfrm>
            <a:off x="6385255" y="2103120"/>
            <a:ext cx="5120640" cy="3657600"/>
          </a:xfrm>
          <a:prstGeom prst="roundRect">
            <a:avLst/>
          </a:prstGeom>
          <a:solidFill>
            <a:srgbClr val="160B26"/>
          </a:solidFill>
          <a:ln w="19050">
            <a:solidFill>
              <a:srgbClr val="3C1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68135" y="2240280"/>
            <a:ext cx="4754880" cy="3383280"/>
          </a:xfrm>
          <a:prstGeom prst="rect">
            <a:avLst/>
          </a:prstGeom>
          <a:noFill/>
        </p:spPr>
        <p:txBody>
          <a:bodyPr wrap="square">
            <a:spAutoFit/>
          </a:bodyPr>
          <a:lstStyle/>
          <a:p>
            <a:pPr>
              <a:spcAft>
                <a:spcPts val="1200"/>
              </a:spcAft>
              <a:defRPr sz="1800" b="1">
                <a:solidFill>
                  <a:srgbClr val="00F0FF"/>
                </a:solidFill>
                <a:latin typeface="Noto Sans JP"/>
              </a:defRPr>
            </a:pPr>
            <a:r>
              <a:t>✦ KinetiChordの解答</a:t>
            </a:r>
          </a:p>
          <a:p>
            <a:pPr>
              <a:spcAft>
                <a:spcPts val="600"/>
              </a:spcAft>
              <a:defRPr sz="1200">
                <a:solidFill>
                  <a:srgbClr val="FFFFFF"/>
                </a:solidFill>
                <a:latin typeface="Noto Sans JP"/>
              </a:defRPr>
            </a:pPr>
            <a:r>
              <a:t>• 身体を「楽器」に、表情を「光」に変え、空間全体を共鳴させる新機軸のデジタルアート。</a:t>
            </a:r>
          </a:p>
          <a:p>
            <a:pPr>
              <a:spcAft>
                <a:spcPts val="600"/>
              </a:spcAft>
              <a:defRPr sz="1200">
                <a:solidFill>
                  <a:srgbClr val="FFFFFF"/>
                </a:solidFill>
                <a:latin typeface="Noto Sans JP"/>
              </a:defRPr>
            </a:pPr>
            <a:r>
              <a:t>• マルチモーダル融合: 表情分析、手の重心追跡、全体のモーション強度、マイク音圧解析の完全ブレンド。</a:t>
            </a:r>
          </a:p>
          <a:p>
            <a:pPr>
              <a:spcAft>
                <a:spcPts val="600"/>
              </a:spcAft>
              <a:defRPr sz="1200">
                <a:solidFill>
                  <a:srgbClr val="FFFFFF"/>
                </a:solidFill>
                <a:latin typeface="Noto Sans JP"/>
              </a:defRPr>
            </a:pPr>
            <a:r>
              <a:t>• 音と光をまとう超感覚: 体の移動速度や激しさに応じて、リアルタイムに粒子とシンセ音響が爆発・変調。</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1097280"/>
            <a:ext cx="10820095" cy="13716"/>
          </a:xfrm>
          <a:prstGeom prst="rect">
            <a:avLst/>
          </a:prstGeom>
          <a:solidFill>
            <a:srgbClr val="281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0040"/>
            <a:ext cx="4572000" cy="731520"/>
          </a:xfrm>
          <a:prstGeom prst="rect">
            <a:avLst/>
          </a:prstGeom>
          <a:noFill/>
        </p:spPr>
        <p:txBody>
          <a:bodyPr wrap="square">
            <a:spAutoFit/>
          </a:bodyPr>
          <a:lstStyle/>
          <a:p>
            <a:pPr>
              <a:defRPr sz="2400" b="1">
                <a:solidFill>
                  <a:srgbClr val="FF2A85"/>
                </a:solidFill>
                <a:latin typeface="Outfit"/>
              </a:defRPr>
            </a:pPr>
            <a:r>
              <a:t>✦ KinetiChord</a:t>
            </a:r>
          </a:p>
        </p:txBody>
      </p:sp>
      <p:sp>
        <p:nvSpPr>
          <p:cNvPr id="5" name="TextBox 4"/>
          <p:cNvSpPr txBox="1"/>
          <p:nvPr/>
        </p:nvSpPr>
        <p:spPr>
          <a:xfrm>
            <a:off x="7772400" y="365760"/>
            <a:ext cx="3733495" cy="731520"/>
          </a:xfrm>
          <a:prstGeom prst="rect">
            <a:avLst/>
          </a:prstGeom>
          <a:noFill/>
        </p:spPr>
        <p:txBody>
          <a:bodyPr wrap="none">
            <a:spAutoFit/>
          </a:bodyPr>
          <a:lstStyle/>
          <a:p>
            <a:pPr algn="r">
              <a:defRPr sz="1100" b="1">
                <a:solidFill>
                  <a:srgbClr val="00F0FF"/>
                </a:solidFill>
                <a:latin typeface="Outfit"/>
              </a:defRPr>
            </a:pPr>
            <a:r>
              <a:t>02. SYSTEM ARCHITECTURE</a:t>
            </a:r>
          </a:p>
        </p:txBody>
      </p:sp>
      <p:sp>
        <p:nvSpPr>
          <p:cNvPr id="6" name="TextBox 5"/>
          <p:cNvSpPr txBox="1"/>
          <p:nvPr/>
        </p:nvSpPr>
        <p:spPr>
          <a:xfrm>
            <a:off x="685800" y="1234440"/>
            <a:ext cx="10820095" cy="731520"/>
          </a:xfrm>
          <a:prstGeom prst="rect">
            <a:avLst/>
          </a:prstGeom>
          <a:noFill/>
        </p:spPr>
        <p:txBody>
          <a:bodyPr wrap="none">
            <a:spAutoFit/>
          </a:bodyPr>
          <a:lstStyle/>
          <a:p>
            <a:pPr>
              <a:defRPr sz="3200" b="1">
                <a:solidFill>
                  <a:srgbClr val="FFFFFF"/>
                </a:solidFill>
                <a:latin typeface="Noto Sans JP"/>
              </a:defRPr>
            </a:pPr>
            <a:r>
              <a:t>入力から出力へのシームレスな共鳴ロジック</a:t>
            </a:r>
          </a:p>
        </p:txBody>
      </p:sp>
      <p:sp>
        <p:nvSpPr>
          <p:cNvPr id="7" name="Rectangle 6"/>
          <p:cNvSpPr/>
          <p:nvPr/>
        </p:nvSpPr>
        <p:spPr>
          <a:xfrm>
            <a:off x="685800" y="6126480"/>
            <a:ext cx="10820095" cy="13716"/>
          </a:xfrm>
          <a:prstGeom prst="rect">
            <a:avLst/>
          </a:prstGeom>
          <a:solidFill>
            <a:srgbClr val="1E0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6172200"/>
            <a:ext cx="5486400" cy="457200"/>
          </a:xfrm>
          <a:prstGeom prst="rect">
            <a:avLst/>
          </a:prstGeom>
          <a:noFill/>
        </p:spPr>
        <p:txBody>
          <a:bodyPr wrap="none">
            <a:spAutoFit/>
          </a:bodyPr>
          <a:lstStyle/>
          <a:p>
            <a:pPr>
              <a:defRPr sz="1000">
                <a:solidFill>
                  <a:srgbClr val="9F8FB3"/>
                </a:solidFill>
                <a:latin typeface="Outfit"/>
              </a:defRPr>
            </a:pPr>
            <a:r>
              <a:t>Gemini AI Hackathon 2026 // Presentation Deck</a:t>
            </a:r>
          </a:p>
        </p:txBody>
      </p:sp>
      <p:sp>
        <p:nvSpPr>
          <p:cNvPr id="9" name="TextBox 8"/>
          <p:cNvSpPr txBox="1"/>
          <p:nvPr/>
        </p:nvSpPr>
        <p:spPr>
          <a:xfrm>
            <a:off x="9601200" y="6172200"/>
            <a:ext cx="1904695" cy="457200"/>
          </a:xfrm>
          <a:prstGeom prst="rect">
            <a:avLst/>
          </a:prstGeom>
          <a:noFill/>
        </p:spPr>
        <p:txBody>
          <a:bodyPr wrap="none">
            <a:spAutoFit/>
          </a:bodyPr>
          <a:lstStyle/>
          <a:p>
            <a:pPr algn="r">
              <a:defRPr sz="1100" b="1">
                <a:solidFill>
                  <a:srgbClr val="FFFFFF"/>
                </a:solidFill>
                <a:latin typeface="Outfit"/>
              </a:defRPr>
            </a:pPr>
            <a:r>
              <a:t>Page 03</a:t>
            </a:r>
          </a:p>
        </p:txBody>
      </p:sp>
      <p:sp>
        <p:nvSpPr>
          <p:cNvPr id="10" name="Rounded Rectangle 9"/>
          <p:cNvSpPr/>
          <p:nvPr/>
        </p:nvSpPr>
        <p:spPr>
          <a:xfrm>
            <a:off x="685800" y="2103120"/>
            <a:ext cx="3291840" cy="3657600"/>
          </a:xfrm>
          <a:prstGeom prst="roundRect">
            <a:avLst/>
          </a:prstGeom>
          <a:solidFill>
            <a:srgbClr val="160B26"/>
          </a:solidFill>
          <a:ln w="19050">
            <a:solidFill>
              <a:srgbClr val="3C1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240280"/>
            <a:ext cx="2926080" cy="3383280"/>
          </a:xfrm>
          <a:prstGeom prst="rect">
            <a:avLst/>
          </a:prstGeom>
          <a:noFill/>
        </p:spPr>
        <p:txBody>
          <a:bodyPr wrap="square">
            <a:spAutoFit/>
          </a:bodyPr>
          <a:lstStyle/>
          <a:p>
            <a:pPr>
              <a:spcAft>
                <a:spcPts val="1200"/>
              </a:spcAft>
              <a:defRPr sz="1800" b="1">
                <a:solidFill>
                  <a:srgbClr val="FF2A85"/>
                </a:solidFill>
                <a:latin typeface="Noto Sans JP"/>
              </a:defRPr>
            </a:pPr>
            <a:r>
              <a:t>✦ 1. センシング (入力)</a:t>
            </a:r>
          </a:p>
          <a:p>
            <a:pPr>
              <a:spcAft>
                <a:spcPts val="600"/>
              </a:spcAft>
              <a:defRPr sz="1200">
                <a:solidFill>
                  <a:srgbClr val="FFFFFF"/>
                </a:solidFill>
                <a:latin typeface="Noto Sans JP"/>
              </a:defRPr>
            </a:pPr>
            <a:r>
              <a:t>• 表情/感情分析: face-api.jsを用いて100ms周期で顔の喜怒哀楽スコアを検出。</a:t>
            </a:r>
          </a:p>
          <a:p>
            <a:pPr>
              <a:spcAft>
                <a:spcPts val="600"/>
              </a:spcAft>
              <a:defRPr sz="1200">
                <a:solidFill>
                  <a:srgbClr val="FFFFFF"/>
                </a:solidFill>
                <a:latin typeface="Noto Sans JP"/>
              </a:defRPr>
            </a:pPr>
            <a:r>
              <a:t>• 身体モーション: 手の重心座標や全体のフレーム差分ピクセル量を計算。</a:t>
            </a:r>
          </a:p>
          <a:p>
            <a:pPr>
              <a:spcAft>
                <a:spcPts val="600"/>
              </a:spcAft>
              <a:defRPr sz="1200">
                <a:solidFill>
                  <a:srgbClr val="FFFFFF"/>
                </a:solidFill>
                <a:latin typeface="Noto Sans JP"/>
              </a:defRPr>
            </a:pPr>
            <a:r>
              <a:t>• マイク音圧: WebAudio APIを通じて音声ビートを完全追跡。</a:t>
            </a:r>
          </a:p>
        </p:txBody>
      </p:sp>
      <p:sp>
        <p:nvSpPr>
          <p:cNvPr id="12" name="Rounded Rectangle 11"/>
          <p:cNvSpPr/>
          <p:nvPr/>
        </p:nvSpPr>
        <p:spPr>
          <a:xfrm>
            <a:off x="4449470" y="2103120"/>
            <a:ext cx="3291840" cy="3657600"/>
          </a:xfrm>
          <a:prstGeom prst="roundRect">
            <a:avLst/>
          </a:prstGeom>
          <a:solidFill>
            <a:srgbClr val="160B26"/>
          </a:solidFill>
          <a:ln w="19050">
            <a:solidFill>
              <a:srgbClr val="3C1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2350" y="2240280"/>
            <a:ext cx="2926080" cy="3383280"/>
          </a:xfrm>
          <a:prstGeom prst="rect">
            <a:avLst/>
          </a:prstGeom>
          <a:noFill/>
        </p:spPr>
        <p:txBody>
          <a:bodyPr wrap="square">
            <a:spAutoFit/>
          </a:bodyPr>
          <a:lstStyle/>
          <a:p>
            <a:pPr>
              <a:spcAft>
                <a:spcPts val="1200"/>
              </a:spcAft>
              <a:defRPr sz="1800" b="1">
                <a:solidFill>
                  <a:srgbClr val="00F0FF"/>
                </a:solidFill>
                <a:latin typeface="Noto Sans JP"/>
              </a:defRPr>
            </a:pPr>
            <a:r>
              <a:t>✦ 2. 共鳴処理 (コアコア)</a:t>
            </a:r>
          </a:p>
          <a:p>
            <a:pPr>
              <a:spcAft>
                <a:spcPts val="600"/>
              </a:spcAft>
              <a:defRPr sz="1200">
                <a:solidFill>
                  <a:srgbClr val="FFFFFF"/>
                </a:solidFill>
                <a:latin typeface="Noto Sans JP"/>
              </a:defRPr>
            </a:pPr>
            <a:r>
              <a:t>• 3Dパース射影: 3D座標データをリアルタイムに2D画面へとカメラ射影演算。</a:t>
            </a:r>
          </a:p>
          <a:p>
            <a:pPr>
              <a:spcAft>
                <a:spcPts val="600"/>
              </a:spcAft>
              <a:defRPr sz="1200">
                <a:solidFill>
                  <a:srgbClr val="FFFFFF"/>
                </a:solidFill>
                <a:latin typeface="Noto Sans JP"/>
              </a:defRPr>
            </a:pPr>
            <a:r>
              <a:t>• Lerpスムージング: 不自然なカクつきを根絶し、追従遅延ゼロの滑らかな補間処理を実行。</a:t>
            </a:r>
          </a:p>
          <a:p>
            <a:pPr>
              <a:spcAft>
                <a:spcPts val="600"/>
              </a:spcAft>
              <a:defRPr sz="1200">
                <a:solidFill>
                  <a:srgbClr val="FFFFFF"/>
                </a:solidFill>
                <a:latin typeface="Noto Sans JP"/>
              </a:defRPr>
            </a:pPr>
            <a:r>
              <a:t>• 音響処理グラフ: 感情ごとの特殊エフェクトノードを動的に結線。</a:t>
            </a:r>
          </a:p>
        </p:txBody>
      </p:sp>
      <p:sp>
        <p:nvSpPr>
          <p:cNvPr id="14" name="Rounded Rectangle 13"/>
          <p:cNvSpPr/>
          <p:nvPr/>
        </p:nvSpPr>
        <p:spPr>
          <a:xfrm>
            <a:off x="8214055" y="2103120"/>
            <a:ext cx="3291840" cy="3657600"/>
          </a:xfrm>
          <a:prstGeom prst="roundRect">
            <a:avLst/>
          </a:prstGeom>
          <a:solidFill>
            <a:srgbClr val="160B26"/>
          </a:solidFill>
          <a:ln w="19050">
            <a:solidFill>
              <a:srgbClr val="3C1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96935" y="2240280"/>
            <a:ext cx="2926080" cy="3383280"/>
          </a:xfrm>
          <a:prstGeom prst="rect">
            <a:avLst/>
          </a:prstGeom>
          <a:noFill/>
        </p:spPr>
        <p:txBody>
          <a:bodyPr wrap="square">
            <a:spAutoFit/>
          </a:bodyPr>
          <a:lstStyle/>
          <a:p>
            <a:pPr>
              <a:spcAft>
                <a:spcPts val="1200"/>
              </a:spcAft>
              <a:defRPr sz="1800" b="1">
                <a:solidFill>
                  <a:srgbClr val="FFD700"/>
                </a:solidFill>
                <a:latin typeface="Noto Sans JP"/>
              </a:defRPr>
            </a:pPr>
            <a:r>
              <a:t>✦ 3. アウトプット (出力)</a:t>
            </a:r>
          </a:p>
          <a:p>
            <a:pPr>
              <a:spcAft>
                <a:spcPts val="600"/>
              </a:spcAft>
              <a:defRPr sz="1200">
                <a:solidFill>
                  <a:srgbClr val="FFFFFF"/>
                </a:solidFill>
                <a:latin typeface="Noto Sans JP"/>
              </a:defRPr>
            </a:pPr>
            <a:r>
              <a:t>• 3D Canvas: 420個の密な粒子、3Dテーパーシリンダーによる立体肉厚スケルトン。</a:t>
            </a:r>
          </a:p>
          <a:p>
            <a:pPr>
              <a:spcAft>
                <a:spcPts val="600"/>
              </a:spcAft>
              <a:defRPr sz="1200">
                <a:solidFill>
                  <a:srgbClr val="FFFFFF"/>
                </a:solidFill>
                <a:latin typeface="Noto Sans JP"/>
              </a:defRPr>
            </a:pPr>
            <a:r>
              <a:t>• 立体音響シンセ: 手の位置に完全に同期するステレオ定位パンニング処理。</a:t>
            </a:r>
          </a:p>
          <a:p>
            <a:pPr>
              <a:spcAft>
                <a:spcPts val="600"/>
              </a:spcAft>
              <a:defRPr sz="1200">
                <a:solidFill>
                  <a:srgbClr val="FFFFFF"/>
                </a:solidFill>
                <a:latin typeface="Noto Sans JP"/>
              </a:defRPr>
            </a:pPr>
            <a:r>
              <a:t>• 極限音響: 脳を揺さぶるエフェクト。</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1097280"/>
            <a:ext cx="10820095" cy="13716"/>
          </a:xfrm>
          <a:prstGeom prst="rect">
            <a:avLst/>
          </a:prstGeom>
          <a:solidFill>
            <a:srgbClr val="281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0040"/>
            <a:ext cx="4572000" cy="731520"/>
          </a:xfrm>
          <a:prstGeom prst="rect">
            <a:avLst/>
          </a:prstGeom>
          <a:noFill/>
        </p:spPr>
        <p:txBody>
          <a:bodyPr wrap="square">
            <a:spAutoFit/>
          </a:bodyPr>
          <a:lstStyle/>
          <a:p>
            <a:pPr>
              <a:defRPr sz="2400" b="1">
                <a:solidFill>
                  <a:srgbClr val="FF2A85"/>
                </a:solidFill>
                <a:latin typeface="Outfit"/>
              </a:defRPr>
            </a:pPr>
            <a:r>
              <a:t>✦ KinetiChord</a:t>
            </a:r>
          </a:p>
        </p:txBody>
      </p:sp>
      <p:sp>
        <p:nvSpPr>
          <p:cNvPr id="5" name="TextBox 4"/>
          <p:cNvSpPr txBox="1"/>
          <p:nvPr/>
        </p:nvSpPr>
        <p:spPr>
          <a:xfrm>
            <a:off x="7772400" y="365760"/>
            <a:ext cx="3733495" cy="731520"/>
          </a:xfrm>
          <a:prstGeom prst="rect">
            <a:avLst/>
          </a:prstGeom>
          <a:noFill/>
        </p:spPr>
        <p:txBody>
          <a:bodyPr wrap="none">
            <a:spAutoFit/>
          </a:bodyPr>
          <a:lstStyle/>
          <a:p>
            <a:pPr algn="r">
              <a:defRPr sz="1100" b="1">
                <a:solidFill>
                  <a:srgbClr val="00F0FF"/>
                </a:solidFill>
                <a:latin typeface="Outfit"/>
              </a:defRPr>
            </a:pPr>
            <a:r>
              <a:t>03. CORE FEATURE I</a:t>
            </a:r>
          </a:p>
        </p:txBody>
      </p:sp>
      <p:sp>
        <p:nvSpPr>
          <p:cNvPr id="6" name="TextBox 5"/>
          <p:cNvSpPr txBox="1"/>
          <p:nvPr/>
        </p:nvSpPr>
        <p:spPr>
          <a:xfrm>
            <a:off x="685800" y="1234440"/>
            <a:ext cx="10820095" cy="731520"/>
          </a:xfrm>
          <a:prstGeom prst="rect">
            <a:avLst/>
          </a:prstGeom>
          <a:noFill/>
        </p:spPr>
        <p:txBody>
          <a:bodyPr wrap="none">
            <a:spAutoFit/>
          </a:bodyPr>
          <a:lstStyle/>
          <a:p>
            <a:pPr>
              <a:defRPr sz="3200" b="1">
                <a:solidFill>
                  <a:srgbClr val="FFFFFF"/>
                </a:solidFill>
                <a:latin typeface="Noto Sans JP"/>
              </a:defRPr>
            </a:pPr>
            <a:r>
              <a:t>身体を完璧にトレースする「キネティック・スケルトン」</a:t>
            </a:r>
          </a:p>
        </p:txBody>
      </p:sp>
      <p:sp>
        <p:nvSpPr>
          <p:cNvPr id="7" name="Rectangle 6"/>
          <p:cNvSpPr/>
          <p:nvPr/>
        </p:nvSpPr>
        <p:spPr>
          <a:xfrm>
            <a:off x="685800" y="6126480"/>
            <a:ext cx="10820095" cy="13716"/>
          </a:xfrm>
          <a:prstGeom prst="rect">
            <a:avLst/>
          </a:prstGeom>
          <a:solidFill>
            <a:srgbClr val="1E0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6172200"/>
            <a:ext cx="5486400" cy="457200"/>
          </a:xfrm>
          <a:prstGeom prst="rect">
            <a:avLst/>
          </a:prstGeom>
          <a:noFill/>
        </p:spPr>
        <p:txBody>
          <a:bodyPr wrap="none">
            <a:spAutoFit/>
          </a:bodyPr>
          <a:lstStyle/>
          <a:p>
            <a:pPr>
              <a:defRPr sz="1000">
                <a:solidFill>
                  <a:srgbClr val="9F8FB3"/>
                </a:solidFill>
                <a:latin typeface="Outfit"/>
              </a:defRPr>
            </a:pPr>
            <a:r>
              <a:t>Gemini AI Hackathon 2026 // Presentation Deck</a:t>
            </a:r>
          </a:p>
        </p:txBody>
      </p:sp>
      <p:sp>
        <p:nvSpPr>
          <p:cNvPr id="9" name="TextBox 8"/>
          <p:cNvSpPr txBox="1"/>
          <p:nvPr/>
        </p:nvSpPr>
        <p:spPr>
          <a:xfrm>
            <a:off x="9601200" y="6172200"/>
            <a:ext cx="1904695" cy="457200"/>
          </a:xfrm>
          <a:prstGeom prst="rect">
            <a:avLst/>
          </a:prstGeom>
          <a:noFill/>
        </p:spPr>
        <p:txBody>
          <a:bodyPr wrap="none">
            <a:spAutoFit/>
          </a:bodyPr>
          <a:lstStyle/>
          <a:p>
            <a:pPr algn="r">
              <a:defRPr sz="1100" b="1">
                <a:solidFill>
                  <a:srgbClr val="FFFFFF"/>
                </a:solidFill>
                <a:latin typeface="Outfit"/>
              </a:defRPr>
            </a:pPr>
            <a:r>
              <a:t>Page 04</a:t>
            </a:r>
          </a:p>
        </p:txBody>
      </p:sp>
      <p:sp>
        <p:nvSpPr>
          <p:cNvPr id="10" name="Rounded Rectangle 9"/>
          <p:cNvSpPr/>
          <p:nvPr/>
        </p:nvSpPr>
        <p:spPr>
          <a:xfrm>
            <a:off x="685800" y="2103120"/>
            <a:ext cx="5120640" cy="3657600"/>
          </a:xfrm>
          <a:prstGeom prst="roundRect">
            <a:avLst/>
          </a:prstGeom>
          <a:solidFill>
            <a:srgbClr val="160B26"/>
          </a:solidFill>
          <a:ln w="19050">
            <a:solidFill>
              <a:srgbClr val="3C1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240280"/>
            <a:ext cx="4754880" cy="3383280"/>
          </a:xfrm>
          <a:prstGeom prst="rect">
            <a:avLst/>
          </a:prstGeom>
          <a:noFill/>
        </p:spPr>
        <p:txBody>
          <a:bodyPr wrap="square">
            <a:spAutoFit/>
          </a:bodyPr>
          <a:lstStyle/>
          <a:p>
            <a:pPr>
              <a:spcAft>
                <a:spcPts val="1200"/>
              </a:spcAft>
              <a:defRPr sz="1800" b="1">
                <a:solidFill>
                  <a:srgbClr val="00F0FF"/>
                </a:solidFill>
                <a:latin typeface="Noto Sans JP"/>
              </a:defRPr>
            </a:pPr>
            <a:r>
              <a:t>✦ 二律駆動 (Dual-Mode) アバター</a:t>
            </a:r>
          </a:p>
          <a:p>
            <a:pPr>
              <a:spcAft>
                <a:spcPts val="600"/>
              </a:spcAft>
              <a:defRPr sz="1200">
                <a:solidFill>
                  <a:srgbClr val="FFFFFF"/>
                </a:solidFill>
                <a:latin typeface="Noto Sans JP"/>
              </a:defRPr>
            </a:pPr>
            <a:r>
              <a:t>• リアルタイム追従: 顔座標と手の重心をミリ秒単位でスムージング追跡。</a:t>
            </a:r>
          </a:p>
          <a:p>
            <a:pPr>
              <a:spcAft>
                <a:spcPts val="600"/>
              </a:spcAft>
              <a:defRPr sz="1200">
                <a:solidFill>
                  <a:srgbClr val="FFFFFF"/>
                </a:solidFill>
                <a:latin typeface="Noto Sans JP"/>
              </a:defRPr>
            </a:pPr>
            <a:r>
              <a:t>• 自律遊泳ダンス回帰: カメラ検出から外れた瞬間に、呼吸するような2重調和振動（∞字ウェーブ）による自律遊泳ポーズへ移行。</a:t>
            </a:r>
          </a:p>
          <a:p>
            <a:pPr>
              <a:spcAft>
                <a:spcPts val="600"/>
              </a:spcAft>
              <a:defRPr sz="1200">
                <a:solidFill>
                  <a:srgbClr val="FFFFFF"/>
                </a:solidFill>
                <a:latin typeface="Noto Sans JP"/>
              </a:defRPr>
            </a:pPr>
            <a:r>
              <a:t>• フリーズ根絶: 人がいない時も生き生きとした美しい浮遊感を表現。</a:t>
            </a:r>
          </a:p>
        </p:txBody>
      </p:sp>
      <p:sp>
        <p:nvSpPr>
          <p:cNvPr id="12" name="Rounded Rectangle 11"/>
          <p:cNvSpPr/>
          <p:nvPr/>
        </p:nvSpPr>
        <p:spPr>
          <a:xfrm>
            <a:off x="6385255" y="2103120"/>
            <a:ext cx="5120640" cy="3657600"/>
          </a:xfrm>
          <a:prstGeom prst="roundRect">
            <a:avLst/>
          </a:prstGeom>
          <a:solidFill>
            <a:srgbClr val="160B26"/>
          </a:solidFill>
          <a:ln w="19050">
            <a:solidFill>
              <a:srgbClr val="3C1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68135" y="2240280"/>
            <a:ext cx="4754880" cy="3383280"/>
          </a:xfrm>
          <a:prstGeom prst="rect">
            <a:avLst/>
          </a:prstGeom>
          <a:noFill/>
        </p:spPr>
        <p:txBody>
          <a:bodyPr wrap="square">
            <a:spAutoFit/>
          </a:bodyPr>
          <a:lstStyle/>
          <a:p>
            <a:pPr>
              <a:spcAft>
                <a:spcPts val="1200"/>
              </a:spcAft>
              <a:defRPr sz="1800" b="1">
                <a:solidFill>
                  <a:srgbClr val="FF2A85"/>
                </a:solidFill>
                <a:latin typeface="Noto Sans JP"/>
              </a:defRPr>
            </a:pPr>
            <a:r>
              <a:t>✦ 3Dシリンダー投影 ＆ 幾何数学</a:t>
            </a:r>
          </a:p>
          <a:p>
            <a:pPr>
              <a:spcAft>
                <a:spcPts val="600"/>
              </a:spcAft>
              <a:defRPr sz="1200">
                <a:solidFill>
                  <a:srgbClr val="FFFFFF"/>
                </a:solidFill>
                <a:latin typeface="Noto Sans JP"/>
              </a:defRPr>
            </a:pPr>
            <a:r>
              <a:t>• 脚部3Dボリューム復元: 股関節から足首までの骨格を3Dテーパーシリンダー（肉厚な幾何シリンダー）として数理構築。</a:t>
            </a:r>
          </a:p>
          <a:p>
            <a:pPr>
              <a:spcAft>
                <a:spcPts val="600"/>
              </a:spcAft>
              <a:defRPr sz="1200">
                <a:solidFill>
                  <a:srgbClr val="FFFFFF"/>
                </a:solidFill>
                <a:latin typeface="Noto Sans JP"/>
              </a:defRPr>
            </a:pPr>
            <a:r>
              <a:t>• シネマティック旋回アングル: 自動でゆっくりとアバターが左右に自転、上下にたゆたう3Dパースペクティブ投影カメラシステム。</a:t>
            </a:r>
          </a:p>
          <a:p>
            <a:pPr>
              <a:spcAft>
                <a:spcPts val="600"/>
              </a:spcAft>
              <a:defRPr sz="1200">
                <a:solidFill>
                  <a:srgbClr val="FFFFFF"/>
                </a:solidFill>
                <a:latin typeface="Noto Sans JP"/>
              </a:defRPr>
            </a:pPr>
            <a:r>
              <a:t>• 完全な奥行き表現: ドラッグ＆タッチ操作で全方位360度から鑑賞・回転可能。</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1097280"/>
            <a:ext cx="10820095" cy="13716"/>
          </a:xfrm>
          <a:prstGeom prst="rect">
            <a:avLst/>
          </a:prstGeom>
          <a:solidFill>
            <a:srgbClr val="281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0040"/>
            <a:ext cx="4572000" cy="731520"/>
          </a:xfrm>
          <a:prstGeom prst="rect">
            <a:avLst/>
          </a:prstGeom>
          <a:noFill/>
        </p:spPr>
        <p:txBody>
          <a:bodyPr wrap="square">
            <a:spAutoFit/>
          </a:bodyPr>
          <a:lstStyle/>
          <a:p>
            <a:pPr>
              <a:defRPr sz="2400" b="1">
                <a:solidFill>
                  <a:srgbClr val="FF2A85"/>
                </a:solidFill>
                <a:latin typeface="Outfit"/>
              </a:defRPr>
            </a:pPr>
            <a:r>
              <a:t>✦ KinetiChord</a:t>
            </a:r>
          </a:p>
        </p:txBody>
      </p:sp>
      <p:sp>
        <p:nvSpPr>
          <p:cNvPr id="5" name="TextBox 4"/>
          <p:cNvSpPr txBox="1"/>
          <p:nvPr/>
        </p:nvSpPr>
        <p:spPr>
          <a:xfrm>
            <a:off x="7772400" y="365760"/>
            <a:ext cx="3733495" cy="731520"/>
          </a:xfrm>
          <a:prstGeom prst="rect">
            <a:avLst/>
          </a:prstGeom>
          <a:noFill/>
        </p:spPr>
        <p:txBody>
          <a:bodyPr wrap="none">
            <a:spAutoFit/>
          </a:bodyPr>
          <a:lstStyle/>
          <a:p>
            <a:pPr algn="r">
              <a:defRPr sz="1100" b="1">
                <a:solidFill>
                  <a:srgbClr val="00F0FF"/>
                </a:solidFill>
                <a:latin typeface="Outfit"/>
              </a:defRPr>
            </a:pPr>
            <a:r>
              <a:t>04. CORE FEATURE II</a:t>
            </a:r>
          </a:p>
        </p:txBody>
      </p:sp>
      <p:sp>
        <p:nvSpPr>
          <p:cNvPr id="6" name="TextBox 5"/>
          <p:cNvSpPr txBox="1"/>
          <p:nvPr/>
        </p:nvSpPr>
        <p:spPr>
          <a:xfrm>
            <a:off x="685800" y="1234440"/>
            <a:ext cx="10820095" cy="731520"/>
          </a:xfrm>
          <a:prstGeom prst="rect">
            <a:avLst/>
          </a:prstGeom>
          <a:noFill/>
        </p:spPr>
        <p:txBody>
          <a:bodyPr wrap="none">
            <a:spAutoFit/>
          </a:bodyPr>
          <a:lstStyle/>
          <a:p>
            <a:pPr>
              <a:defRPr sz="3200" b="1">
                <a:solidFill>
                  <a:srgbClr val="FFFFFF"/>
                </a:solidFill>
                <a:latin typeface="Noto Sans JP"/>
              </a:defRPr>
            </a:pPr>
            <a:r>
              <a:t>動きに完全に連動するダイナミック・パーティクル</a:t>
            </a:r>
          </a:p>
        </p:txBody>
      </p:sp>
      <p:sp>
        <p:nvSpPr>
          <p:cNvPr id="7" name="Rectangle 6"/>
          <p:cNvSpPr/>
          <p:nvPr/>
        </p:nvSpPr>
        <p:spPr>
          <a:xfrm>
            <a:off x="685800" y="6126480"/>
            <a:ext cx="10820095" cy="13716"/>
          </a:xfrm>
          <a:prstGeom prst="rect">
            <a:avLst/>
          </a:prstGeom>
          <a:solidFill>
            <a:srgbClr val="1E0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6172200"/>
            <a:ext cx="5486400" cy="457200"/>
          </a:xfrm>
          <a:prstGeom prst="rect">
            <a:avLst/>
          </a:prstGeom>
          <a:noFill/>
        </p:spPr>
        <p:txBody>
          <a:bodyPr wrap="none">
            <a:spAutoFit/>
          </a:bodyPr>
          <a:lstStyle/>
          <a:p>
            <a:pPr>
              <a:defRPr sz="1000">
                <a:solidFill>
                  <a:srgbClr val="9F8FB3"/>
                </a:solidFill>
                <a:latin typeface="Outfit"/>
              </a:defRPr>
            </a:pPr>
            <a:r>
              <a:t>Gemini AI Hackathon 2026 // Presentation Deck</a:t>
            </a:r>
          </a:p>
        </p:txBody>
      </p:sp>
      <p:sp>
        <p:nvSpPr>
          <p:cNvPr id="9" name="TextBox 8"/>
          <p:cNvSpPr txBox="1"/>
          <p:nvPr/>
        </p:nvSpPr>
        <p:spPr>
          <a:xfrm>
            <a:off x="9601200" y="6172200"/>
            <a:ext cx="1904695" cy="457200"/>
          </a:xfrm>
          <a:prstGeom prst="rect">
            <a:avLst/>
          </a:prstGeom>
          <a:noFill/>
        </p:spPr>
        <p:txBody>
          <a:bodyPr wrap="none">
            <a:spAutoFit/>
          </a:bodyPr>
          <a:lstStyle/>
          <a:p>
            <a:pPr algn="r">
              <a:defRPr sz="1100" b="1">
                <a:solidFill>
                  <a:srgbClr val="FFFFFF"/>
                </a:solidFill>
                <a:latin typeface="Outfit"/>
              </a:defRPr>
            </a:pPr>
            <a:r>
              <a:t>Page 05</a:t>
            </a:r>
          </a:p>
        </p:txBody>
      </p:sp>
      <p:sp>
        <p:nvSpPr>
          <p:cNvPr id="10" name="Rounded Rectangle 9"/>
          <p:cNvSpPr/>
          <p:nvPr/>
        </p:nvSpPr>
        <p:spPr>
          <a:xfrm>
            <a:off x="685800" y="2103120"/>
            <a:ext cx="5120640" cy="3657600"/>
          </a:xfrm>
          <a:prstGeom prst="roundRect">
            <a:avLst/>
          </a:prstGeom>
          <a:solidFill>
            <a:srgbClr val="160B26"/>
          </a:solidFill>
          <a:ln w="19050">
            <a:solidFill>
              <a:srgbClr val="3C1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240280"/>
            <a:ext cx="4754880" cy="3383280"/>
          </a:xfrm>
          <a:prstGeom prst="rect">
            <a:avLst/>
          </a:prstGeom>
          <a:noFill/>
        </p:spPr>
        <p:txBody>
          <a:bodyPr wrap="square">
            <a:spAutoFit/>
          </a:bodyPr>
          <a:lstStyle/>
          <a:p>
            <a:pPr>
              <a:spcAft>
                <a:spcPts val="1200"/>
              </a:spcAft>
              <a:defRPr sz="1800" b="1">
                <a:solidFill>
                  <a:srgbClr val="00F0FF"/>
                </a:solidFill>
                <a:latin typeface="Noto Sans JP"/>
              </a:defRPr>
            </a:pPr>
            <a:r>
              <a:t>✦ 手速度追跡 ＆ 物理軌跡バースト</a:t>
            </a:r>
          </a:p>
          <a:p>
            <a:pPr>
              <a:spcAft>
                <a:spcPts val="600"/>
              </a:spcAft>
              <a:defRPr sz="1200">
                <a:solidFill>
                  <a:srgbClr val="FFFFFF"/>
                </a:solidFill>
                <a:latin typeface="Noto Sans JP"/>
              </a:defRPr>
            </a:pPr>
            <a:r>
              <a:t>• 速度ベクトルのリアルタイム算出: 手（smoothLeftHand/RightHand）のフレーム間移動差分から瞬時速度を検出。</a:t>
            </a:r>
          </a:p>
          <a:p>
            <a:pPr>
              <a:spcAft>
                <a:spcPts val="600"/>
              </a:spcAft>
              <a:defRPr sz="1200">
                <a:solidFill>
                  <a:srgbClr val="FFFFFF"/>
                </a:solidFill>
                <a:latin typeface="Noto Sans JP"/>
              </a:defRPr>
            </a:pPr>
            <a:r>
              <a:t>• 物理軌跡バースト: 手の移動速度が一定値を超えた瞬間、進行方向の慣性を引き継いだ3〜8個の軌跡バースト粒子を鋭く射出。</a:t>
            </a:r>
          </a:p>
          <a:p>
            <a:pPr>
              <a:spcAft>
                <a:spcPts val="600"/>
              </a:spcAft>
              <a:defRPr sz="1200">
                <a:solidFill>
                  <a:srgbClr val="FFFFFF"/>
                </a:solidFill>
                <a:latin typeface="Noto Sans JP"/>
              </a:defRPr>
            </a:pPr>
            <a:r>
              <a:t>• 手から光を放つような爽快な直感フィードバック体験を実現。</a:t>
            </a:r>
          </a:p>
        </p:txBody>
      </p:sp>
      <p:sp>
        <p:nvSpPr>
          <p:cNvPr id="12" name="Rounded Rectangle 11"/>
          <p:cNvSpPr/>
          <p:nvPr/>
        </p:nvSpPr>
        <p:spPr>
          <a:xfrm>
            <a:off x="6385255" y="2103120"/>
            <a:ext cx="5120640" cy="3657600"/>
          </a:xfrm>
          <a:prstGeom prst="roundRect">
            <a:avLst/>
          </a:prstGeom>
          <a:solidFill>
            <a:srgbClr val="160B26"/>
          </a:solidFill>
          <a:ln w="19050">
            <a:solidFill>
              <a:srgbClr val="3C1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68135" y="2240280"/>
            <a:ext cx="4754880" cy="3383280"/>
          </a:xfrm>
          <a:prstGeom prst="rect">
            <a:avLst/>
          </a:prstGeom>
          <a:noFill/>
        </p:spPr>
        <p:txBody>
          <a:bodyPr wrap="square">
            <a:spAutoFit/>
          </a:bodyPr>
          <a:lstStyle/>
          <a:p>
            <a:pPr>
              <a:spcAft>
                <a:spcPts val="1200"/>
              </a:spcAft>
              <a:defRPr sz="1800" b="1">
                <a:solidFill>
                  <a:srgbClr val="FF2A85"/>
                </a:solidFill>
                <a:latin typeface="Noto Sans JP"/>
              </a:defRPr>
            </a:pPr>
            <a:r>
              <a:t>✦ 全身モーションスパーク ＆ 星座脈動</a:t>
            </a:r>
          </a:p>
          <a:p>
            <a:pPr>
              <a:spcAft>
                <a:spcPts val="600"/>
              </a:spcAft>
              <a:defRPr sz="1200">
                <a:solidFill>
                  <a:srgbClr val="FFFFFF"/>
                </a:solidFill>
                <a:latin typeface="Noto Sans JP"/>
              </a:defRPr>
            </a:pPr>
            <a:r>
              <a:t>• 全身モーションスパーク: ウェブカメラ全体の動きの激しさに応じて、アバター骨格から瞬く「虹色の極小スパーク」を毎フレーム大放出。</a:t>
            </a:r>
          </a:p>
          <a:p>
            <a:pPr>
              <a:spcAft>
                <a:spcPts val="600"/>
              </a:spcAft>
              <a:defRPr sz="1200">
                <a:solidFill>
                  <a:srgbClr val="FFFFFF"/>
                </a:solidFill>
                <a:latin typeface="Noto Sans JP"/>
              </a:defRPr>
            </a:pPr>
            <a:r>
              <a:t>• ダイナミック星座ネットワーク: 人体トポロジー（areAdjacentBodyParts）に基づき不要ノイズ線を完全遮断。激しい動作時はラインが太く脈動し、最大接続距離が自動拡張。</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1097280"/>
            <a:ext cx="10820095" cy="13716"/>
          </a:xfrm>
          <a:prstGeom prst="rect">
            <a:avLst/>
          </a:prstGeom>
          <a:solidFill>
            <a:srgbClr val="281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0040"/>
            <a:ext cx="4572000" cy="731520"/>
          </a:xfrm>
          <a:prstGeom prst="rect">
            <a:avLst/>
          </a:prstGeom>
          <a:noFill/>
        </p:spPr>
        <p:txBody>
          <a:bodyPr wrap="square">
            <a:spAutoFit/>
          </a:bodyPr>
          <a:lstStyle/>
          <a:p>
            <a:pPr>
              <a:defRPr sz="2400" b="1">
                <a:solidFill>
                  <a:srgbClr val="FF2A85"/>
                </a:solidFill>
                <a:latin typeface="Outfit"/>
              </a:defRPr>
            </a:pPr>
            <a:r>
              <a:t>✦ KinetiChord</a:t>
            </a:r>
          </a:p>
        </p:txBody>
      </p:sp>
      <p:sp>
        <p:nvSpPr>
          <p:cNvPr id="5" name="TextBox 4"/>
          <p:cNvSpPr txBox="1"/>
          <p:nvPr/>
        </p:nvSpPr>
        <p:spPr>
          <a:xfrm>
            <a:off x="7772400" y="365760"/>
            <a:ext cx="3733495" cy="731520"/>
          </a:xfrm>
          <a:prstGeom prst="rect">
            <a:avLst/>
          </a:prstGeom>
          <a:noFill/>
        </p:spPr>
        <p:txBody>
          <a:bodyPr wrap="none">
            <a:spAutoFit/>
          </a:bodyPr>
          <a:lstStyle/>
          <a:p>
            <a:pPr algn="r">
              <a:defRPr sz="1100" b="1">
                <a:solidFill>
                  <a:srgbClr val="00F0FF"/>
                </a:solidFill>
                <a:latin typeface="Outfit"/>
              </a:defRPr>
            </a:pPr>
            <a:r>
              <a:t>05. CORE FEATURE III</a:t>
            </a:r>
          </a:p>
        </p:txBody>
      </p:sp>
      <p:sp>
        <p:nvSpPr>
          <p:cNvPr id="6" name="TextBox 5"/>
          <p:cNvSpPr txBox="1"/>
          <p:nvPr/>
        </p:nvSpPr>
        <p:spPr>
          <a:xfrm>
            <a:off x="685800" y="1234440"/>
            <a:ext cx="10820095" cy="731520"/>
          </a:xfrm>
          <a:prstGeom prst="rect">
            <a:avLst/>
          </a:prstGeom>
          <a:noFill/>
        </p:spPr>
        <p:txBody>
          <a:bodyPr wrap="none">
            <a:spAutoFit/>
          </a:bodyPr>
          <a:lstStyle/>
          <a:p>
            <a:pPr>
              <a:defRPr sz="3200" b="1">
                <a:solidFill>
                  <a:srgbClr val="FFFFFF"/>
                </a:solidFill>
                <a:latin typeface="Noto Sans JP"/>
              </a:defRPr>
            </a:pPr>
            <a:r>
              <a:t>感情を100%増幅・反映する極限音響システム</a:t>
            </a:r>
          </a:p>
        </p:txBody>
      </p:sp>
      <p:sp>
        <p:nvSpPr>
          <p:cNvPr id="7" name="Rectangle 6"/>
          <p:cNvSpPr/>
          <p:nvPr/>
        </p:nvSpPr>
        <p:spPr>
          <a:xfrm>
            <a:off x="685800" y="6126480"/>
            <a:ext cx="10820095" cy="13716"/>
          </a:xfrm>
          <a:prstGeom prst="rect">
            <a:avLst/>
          </a:prstGeom>
          <a:solidFill>
            <a:srgbClr val="1E0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6172200"/>
            <a:ext cx="5486400" cy="457200"/>
          </a:xfrm>
          <a:prstGeom prst="rect">
            <a:avLst/>
          </a:prstGeom>
          <a:noFill/>
        </p:spPr>
        <p:txBody>
          <a:bodyPr wrap="none">
            <a:spAutoFit/>
          </a:bodyPr>
          <a:lstStyle/>
          <a:p>
            <a:pPr>
              <a:defRPr sz="1000">
                <a:solidFill>
                  <a:srgbClr val="9F8FB3"/>
                </a:solidFill>
                <a:latin typeface="Outfit"/>
              </a:defRPr>
            </a:pPr>
            <a:r>
              <a:t>Gemini AI Hackathon 2026 // Presentation Deck</a:t>
            </a:r>
          </a:p>
        </p:txBody>
      </p:sp>
      <p:sp>
        <p:nvSpPr>
          <p:cNvPr id="9" name="TextBox 8"/>
          <p:cNvSpPr txBox="1"/>
          <p:nvPr/>
        </p:nvSpPr>
        <p:spPr>
          <a:xfrm>
            <a:off x="9601200" y="6172200"/>
            <a:ext cx="1904695" cy="457200"/>
          </a:xfrm>
          <a:prstGeom prst="rect">
            <a:avLst/>
          </a:prstGeom>
          <a:noFill/>
        </p:spPr>
        <p:txBody>
          <a:bodyPr wrap="none">
            <a:spAutoFit/>
          </a:bodyPr>
          <a:lstStyle/>
          <a:p>
            <a:pPr algn="r">
              <a:defRPr sz="1100" b="1">
                <a:solidFill>
                  <a:srgbClr val="FFFFFF"/>
                </a:solidFill>
                <a:latin typeface="Outfit"/>
              </a:defRPr>
            </a:pPr>
            <a:r>
              <a:t>Page 06</a:t>
            </a:r>
          </a:p>
        </p:txBody>
      </p:sp>
      <p:sp>
        <p:nvSpPr>
          <p:cNvPr id="10" name="Rounded Rectangle 9"/>
          <p:cNvSpPr/>
          <p:nvPr/>
        </p:nvSpPr>
        <p:spPr>
          <a:xfrm>
            <a:off x="685800" y="2103120"/>
            <a:ext cx="5120640" cy="3657600"/>
          </a:xfrm>
          <a:prstGeom prst="roundRect">
            <a:avLst/>
          </a:prstGeom>
          <a:solidFill>
            <a:srgbClr val="160B26"/>
          </a:solidFill>
          <a:ln w="19050">
            <a:solidFill>
              <a:srgbClr val="3C1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240280"/>
            <a:ext cx="4754880" cy="3383280"/>
          </a:xfrm>
          <a:prstGeom prst="rect">
            <a:avLst/>
          </a:prstGeom>
          <a:noFill/>
        </p:spPr>
        <p:txBody>
          <a:bodyPr wrap="square">
            <a:spAutoFit/>
          </a:bodyPr>
          <a:lstStyle/>
          <a:p>
            <a:pPr>
              <a:spcAft>
                <a:spcPts val="1200"/>
              </a:spcAft>
              <a:defRPr sz="1800" b="1">
                <a:solidFill>
                  <a:srgbClr val="FFD700"/>
                </a:solidFill>
                <a:latin typeface="Noto Sans JP"/>
              </a:defRPr>
            </a:pPr>
            <a:r>
              <a:t>✦ 😊 喜び (Happy) ＆ 😢 哀しみ (Sad)</a:t>
            </a:r>
          </a:p>
          <a:p>
            <a:pPr>
              <a:spcAft>
                <a:spcPts val="600"/>
              </a:spcAft>
              <a:defRPr sz="1200">
                <a:solidFill>
                  <a:srgbClr val="FFFFFF"/>
                </a:solidFill>
                <a:latin typeface="Noto Sans JP"/>
              </a:defRPr>
            </a:pPr>
            <a:r>
              <a:t>• 喜び: フィルターカットオフを9,500Hzまで完全解放。120ms周期でコード音がオクターブ上（+12/+24半音）へスイープする流麗なアルペジエーター。</a:t>
            </a:r>
          </a:p>
          <a:p>
            <a:pPr>
              <a:spcAft>
                <a:spcPts val="600"/>
              </a:spcAft>
              <a:defRPr sz="1200">
                <a:solidFill>
                  <a:srgbClr val="FFFFFF"/>
                </a:solidFill>
                <a:latin typeface="Noto Sans JP"/>
              </a:defRPr>
            </a:pPr>
            <a:r>
              <a:t>• 哀しみ: 深海フェードアウト音量85%カット。ローパスを150Hzの極限深海マッフル状態にし、88%帰還率のディレイによる底知れぬ哀愁のエコー。</a:t>
            </a:r>
          </a:p>
        </p:txBody>
      </p:sp>
      <p:sp>
        <p:nvSpPr>
          <p:cNvPr id="12" name="Rounded Rectangle 11"/>
          <p:cNvSpPr/>
          <p:nvPr/>
        </p:nvSpPr>
        <p:spPr>
          <a:xfrm>
            <a:off x="6385255" y="2103120"/>
            <a:ext cx="5120640" cy="3657600"/>
          </a:xfrm>
          <a:prstGeom prst="roundRect">
            <a:avLst/>
          </a:prstGeom>
          <a:solidFill>
            <a:srgbClr val="160B26"/>
          </a:solidFill>
          <a:ln w="19050">
            <a:solidFill>
              <a:srgbClr val="3C1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68135" y="2240280"/>
            <a:ext cx="4754880" cy="3383280"/>
          </a:xfrm>
          <a:prstGeom prst="rect">
            <a:avLst/>
          </a:prstGeom>
          <a:noFill/>
        </p:spPr>
        <p:txBody>
          <a:bodyPr wrap="square">
            <a:spAutoFit/>
          </a:bodyPr>
          <a:lstStyle/>
          <a:p>
            <a:pPr>
              <a:spcAft>
                <a:spcPts val="1200"/>
              </a:spcAft>
              <a:defRPr sz="1800" b="1">
                <a:solidFill>
                  <a:srgbClr val="FF3333"/>
                </a:solidFill>
                <a:latin typeface="Noto Sans JP"/>
              </a:defRPr>
            </a:pPr>
            <a:r>
              <a:t>✦ 😡 怒り (Angry) ＆ 😮 驚き (Surprised)</a:t>
            </a:r>
          </a:p>
          <a:p>
            <a:pPr>
              <a:spcAft>
                <a:spcPts val="600"/>
              </a:spcAft>
              <a:defRPr sz="1200">
                <a:solidFill>
                  <a:srgbClr val="FFFFFF"/>
                </a:solidFill>
                <a:latin typeface="Noto Sans JP"/>
              </a:defRPr>
            </a:pPr>
            <a:r>
              <a:t>• 怒り: クリーン経路を完全遮断。WaveShaperによるディストーションの歪み量を極限（350）にブースト。マイク音圧連動の爆音ゲインと高周波悲鳴ピッチジッター。</a:t>
            </a:r>
          </a:p>
          <a:p>
            <a:pPr>
              <a:spcAft>
                <a:spcPts val="600"/>
              </a:spcAft>
              <a:defRPr sz="1200">
                <a:solidFill>
                  <a:srgbClr val="FFFFFF"/>
                </a:solidFill>
                <a:latin typeface="Noto Sans JP"/>
              </a:defRPr>
            </a:pPr>
            <a:r>
              <a:t>• 驚き: 15Hz超ハイスピードステレオ往復パンニングが脳髄を直撃。0.05秒の極小スラップバックディレイによる金属的なショートエコー。</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1097280"/>
            <a:ext cx="10820095" cy="13716"/>
          </a:xfrm>
          <a:prstGeom prst="rect">
            <a:avLst/>
          </a:prstGeom>
          <a:solidFill>
            <a:srgbClr val="281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0040"/>
            <a:ext cx="4572000" cy="731520"/>
          </a:xfrm>
          <a:prstGeom prst="rect">
            <a:avLst/>
          </a:prstGeom>
          <a:noFill/>
        </p:spPr>
        <p:txBody>
          <a:bodyPr wrap="square">
            <a:spAutoFit/>
          </a:bodyPr>
          <a:lstStyle/>
          <a:p>
            <a:pPr>
              <a:defRPr sz="2400" b="1">
                <a:solidFill>
                  <a:srgbClr val="FF2A85"/>
                </a:solidFill>
                <a:latin typeface="Outfit"/>
              </a:defRPr>
            </a:pPr>
            <a:r>
              <a:t>✦ KinetiChord</a:t>
            </a:r>
          </a:p>
        </p:txBody>
      </p:sp>
      <p:sp>
        <p:nvSpPr>
          <p:cNvPr id="5" name="TextBox 4"/>
          <p:cNvSpPr txBox="1"/>
          <p:nvPr/>
        </p:nvSpPr>
        <p:spPr>
          <a:xfrm>
            <a:off x="7772400" y="365760"/>
            <a:ext cx="3733495" cy="731520"/>
          </a:xfrm>
          <a:prstGeom prst="rect">
            <a:avLst/>
          </a:prstGeom>
          <a:noFill/>
        </p:spPr>
        <p:txBody>
          <a:bodyPr wrap="none">
            <a:spAutoFit/>
          </a:bodyPr>
          <a:lstStyle/>
          <a:p>
            <a:pPr algn="r">
              <a:defRPr sz="1100" b="1">
                <a:solidFill>
                  <a:srgbClr val="00F0FF"/>
                </a:solidFill>
                <a:latin typeface="Outfit"/>
              </a:defRPr>
            </a:pPr>
            <a:r>
              <a:t>06. TECH STACK</a:t>
            </a:r>
          </a:p>
        </p:txBody>
      </p:sp>
      <p:sp>
        <p:nvSpPr>
          <p:cNvPr id="6" name="TextBox 5"/>
          <p:cNvSpPr txBox="1"/>
          <p:nvPr/>
        </p:nvSpPr>
        <p:spPr>
          <a:xfrm>
            <a:off x="685800" y="1234440"/>
            <a:ext cx="10820095" cy="731520"/>
          </a:xfrm>
          <a:prstGeom prst="rect">
            <a:avLst/>
          </a:prstGeom>
          <a:noFill/>
        </p:spPr>
        <p:txBody>
          <a:bodyPr wrap="none">
            <a:spAutoFit/>
          </a:bodyPr>
          <a:lstStyle/>
          <a:p>
            <a:pPr>
              <a:defRPr sz="3200" b="1">
                <a:solidFill>
                  <a:srgbClr val="FFFFFF"/>
                </a:solidFill>
                <a:latin typeface="Noto Sans JP"/>
              </a:defRPr>
            </a:pPr>
            <a:r>
              <a:t>徹底したPure Vanilla実装と極限パフォーマンス最適化</a:t>
            </a:r>
          </a:p>
        </p:txBody>
      </p:sp>
      <p:sp>
        <p:nvSpPr>
          <p:cNvPr id="7" name="Rectangle 6"/>
          <p:cNvSpPr/>
          <p:nvPr/>
        </p:nvSpPr>
        <p:spPr>
          <a:xfrm>
            <a:off x="685800" y="6126480"/>
            <a:ext cx="10820095" cy="13716"/>
          </a:xfrm>
          <a:prstGeom prst="rect">
            <a:avLst/>
          </a:prstGeom>
          <a:solidFill>
            <a:srgbClr val="1E0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6172200"/>
            <a:ext cx="5486400" cy="457200"/>
          </a:xfrm>
          <a:prstGeom prst="rect">
            <a:avLst/>
          </a:prstGeom>
          <a:noFill/>
        </p:spPr>
        <p:txBody>
          <a:bodyPr wrap="none">
            <a:spAutoFit/>
          </a:bodyPr>
          <a:lstStyle/>
          <a:p>
            <a:pPr>
              <a:defRPr sz="1000">
                <a:solidFill>
                  <a:srgbClr val="9F8FB3"/>
                </a:solidFill>
                <a:latin typeface="Outfit"/>
              </a:defRPr>
            </a:pPr>
            <a:r>
              <a:t>Gemini AI Hackathon 2026 // Presentation Deck</a:t>
            </a:r>
          </a:p>
        </p:txBody>
      </p:sp>
      <p:sp>
        <p:nvSpPr>
          <p:cNvPr id="9" name="TextBox 8"/>
          <p:cNvSpPr txBox="1"/>
          <p:nvPr/>
        </p:nvSpPr>
        <p:spPr>
          <a:xfrm>
            <a:off x="9601200" y="6172200"/>
            <a:ext cx="1904695" cy="457200"/>
          </a:xfrm>
          <a:prstGeom prst="rect">
            <a:avLst/>
          </a:prstGeom>
          <a:noFill/>
        </p:spPr>
        <p:txBody>
          <a:bodyPr wrap="none">
            <a:spAutoFit/>
          </a:bodyPr>
          <a:lstStyle/>
          <a:p>
            <a:pPr algn="r">
              <a:defRPr sz="1100" b="1">
                <a:solidFill>
                  <a:srgbClr val="FFFFFF"/>
                </a:solidFill>
                <a:latin typeface="Outfit"/>
              </a:defRPr>
            </a:pPr>
            <a:r>
              <a:t>Page 07</a:t>
            </a:r>
          </a:p>
        </p:txBody>
      </p:sp>
      <p:sp>
        <p:nvSpPr>
          <p:cNvPr id="10" name="Rounded Rectangle 9"/>
          <p:cNvSpPr/>
          <p:nvPr/>
        </p:nvSpPr>
        <p:spPr>
          <a:xfrm>
            <a:off x="685800" y="2103120"/>
            <a:ext cx="5120640" cy="3657600"/>
          </a:xfrm>
          <a:prstGeom prst="roundRect">
            <a:avLst/>
          </a:prstGeom>
          <a:solidFill>
            <a:srgbClr val="160B26"/>
          </a:solidFill>
          <a:ln w="19050">
            <a:solidFill>
              <a:srgbClr val="3C1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240280"/>
            <a:ext cx="4754880" cy="3383280"/>
          </a:xfrm>
          <a:prstGeom prst="rect">
            <a:avLst/>
          </a:prstGeom>
          <a:noFill/>
        </p:spPr>
        <p:txBody>
          <a:bodyPr wrap="square">
            <a:spAutoFit/>
          </a:bodyPr>
          <a:lstStyle/>
          <a:p>
            <a:pPr>
              <a:spcAft>
                <a:spcPts val="1200"/>
              </a:spcAft>
              <a:defRPr sz="1800" b="1">
                <a:solidFill>
                  <a:srgbClr val="00F0FF"/>
                </a:solidFill>
                <a:latin typeface="Noto Sans JP"/>
              </a:defRPr>
            </a:pPr>
            <a:r>
              <a:t>✦ 技術スタック一覧</a:t>
            </a:r>
          </a:p>
          <a:p>
            <a:pPr>
              <a:spcAft>
                <a:spcPts val="600"/>
              </a:spcAft>
              <a:defRPr sz="1200">
                <a:solidFill>
                  <a:srgbClr val="FFFFFF"/>
                </a:solidFill>
                <a:latin typeface="Noto Sans JP"/>
              </a:defRPr>
            </a:pPr>
            <a:r>
              <a:t>• Pure Vanilla Web: 重厚なReact等のUIフレームワークを排除。HTML/CSS/Vanilla JSによる瞬時ロードと超レスポンシブな描画を実現。</a:t>
            </a:r>
          </a:p>
          <a:p>
            <a:pPr>
              <a:spcAft>
                <a:spcPts val="600"/>
              </a:spcAft>
              <a:defRPr sz="1200">
                <a:solidFill>
                  <a:srgbClr val="FFFFFF"/>
                </a:solidFill>
                <a:latin typeface="Noto Sans JP"/>
              </a:defRPr>
            </a:pPr>
            <a:r>
              <a:t>• face-api.js (TensorFlow.js): 軽量な表情分析モデル。約5MBのデータは起動と同時に非同期読み込みされ、UI操作を一切阻害しません。</a:t>
            </a:r>
          </a:p>
          <a:p>
            <a:pPr>
              <a:spcAft>
                <a:spcPts val="600"/>
              </a:spcAft>
              <a:defRPr sz="1200">
                <a:solidFill>
                  <a:srgbClr val="FFFFFF"/>
                </a:solidFill>
                <a:latin typeface="Noto Sans JP"/>
              </a:defRPr>
            </a:pPr>
            <a:r>
              <a:t>• Web Audio API: シンセ合成およびエフェクト結線をWebブラウザ上で完結。</a:t>
            </a:r>
          </a:p>
        </p:txBody>
      </p:sp>
      <p:sp>
        <p:nvSpPr>
          <p:cNvPr id="12" name="Rounded Rectangle 11"/>
          <p:cNvSpPr/>
          <p:nvPr/>
        </p:nvSpPr>
        <p:spPr>
          <a:xfrm>
            <a:off x="6385255" y="2103120"/>
            <a:ext cx="5120640" cy="3657600"/>
          </a:xfrm>
          <a:prstGeom prst="roundRect">
            <a:avLst/>
          </a:prstGeom>
          <a:solidFill>
            <a:srgbClr val="160B26"/>
          </a:solidFill>
          <a:ln w="19050">
            <a:solidFill>
              <a:srgbClr val="3C1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68135" y="2240280"/>
            <a:ext cx="4754880" cy="3383280"/>
          </a:xfrm>
          <a:prstGeom prst="rect">
            <a:avLst/>
          </a:prstGeom>
          <a:noFill/>
        </p:spPr>
        <p:txBody>
          <a:bodyPr wrap="square">
            <a:spAutoFit/>
          </a:bodyPr>
          <a:lstStyle/>
          <a:p>
            <a:pPr>
              <a:spcAft>
                <a:spcPts val="1200"/>
              </a:spcAft>
              <a:defRPr sz="1800" b="1">
                <a:solidFill>
                  <a:srgbClr val="FF2A85"/>
                </a:solidFill>
                <a:latin typeface="Noto Sans JP"/>
              </a:defRPr>
            </a:pPr>
            <a:r>
              <a:t>✦ 60FPSを描画し続けるチューニング技術</a:t>
            </a:r>
          </a:p>
          <a:p>
            <a:pPr>
              <a:spcAft>
                <a:spcPts val="600"/>
              </a:spcAft>
              <a:defRPr sz="1200">
                <a:solidFill>
                  <a:srgbClr val="FFFFFF"/>
                </a:solidFill>
                <a:latin typeface="Noto Sans JP"/>
              </a:defRPr>
            </a:pPr>
            <a:r>
              <a:t>• 超軽量差分バッファ: モーション判定をわずか「48x36」の極小解像度で行い、CPU/GPU消費を事実上ゼロへクランプしながら手の重心を追従。</a:t>
            </a:r>
          </a:p>
          <a:p>
            <a:pPr>
              <a:spcAft>
                <a:spcPts val="600"/>
              </a:spcAft>
              <a:defRPr sz="1200">
                <a:solidFill>
                  <a:srgbClr val="FFFFFF"/>
                </a:solidFill>
                <a:latin typeface="Noto Sans JP"/>
              </a:defRPr>
            </a:pPr>
            <a:r>
              <a:t>• 厳格なメモリ・アロケーション: パーティクル最大容量を「650」にハードクランプ。寿命を迎えた粒子を即時GCへ。モバイルでもヌルヌル動作。</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1097280"/>
            <a:ext cx="10820095" cy="13716"/>
          </a:xfrm>
          <a:prstGeom prst="rect">
            <a:avLst/>
          </a:prstGeom>
          <a:solidFill>
            <a:srgbClr val="281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0040"/>
            <a:ext cx="4572000" cy="731520"/>
          </a:xfrm>
          <a:prstGeom prst="rect">
            <a:avLst/>
          </a:prstGeom>
          <a:noFill/>
        </p:spPr>
        <p:txBody>
          <a:bodyPr wrap="square">
            <a:spAutoFit/>
          </a:bodyPr>
          <a:lstStyle/>
          <a:p>
            <a:pPr>
              <a:defRPr sz="2400" b="1">
                <a:solidFill>
                  <a:srgbClr val="FF2A85"/>
                </a:solidFill>
                <a:latin typeface="Outfit"/>
              </a:defRPr>
            </a:pPr>
            <a:r>
              <a:t>✦ KinetiChord</a:t>
            </a:r>
          </a:p>
        </p:txBody>
      </p:sp>
      <p:sp>
        <p:nvSpPr>
          <p:cNvPr id="5" name="TextBox 4"/>
          <p:cNvSpPr txBox="1"/>
          <p:nvPr/>
        </p:nvSpPr>
        <p:spPr>
          <a:xfrm>
            <a:off x="7772400" y="365760"/>
            <a:ext cx="3733495" cy="731520"/>
          </a:xfrm>
          <a:prstGeom prst="rect">
            <a:avLst/>
          </a:prstGeom>
          <a:noFill/>
        </p:spPr>
        <p:txBody>
          <a:bodyPr wrap="none">
            <a:spAutoFit/>
          </a:bodyPr>
          <a:lstStyle/>
          <a:p>
            <a:pPr algn="r">
              <a:defRPr sz="1100" b="1">
                <a:solidFill>
                  <a:srgbClr val="00F0FF"/>
                </a:solidFill>
                <a:latin typeface="Outfit"/>
              </a:defRPr>
            </a:pPr>
            <a:r>
              <a:t>07. DEPLOYMENT</a:t>
            </a:r>
          </a:p>
        </p:txBody>
      </p:sp>
      <p:sp>
        <p:nvSpPr>
          <p:cNvPr id="6" name="TextBox 5"/>
          <p:cNvSpPr txBox="1"/>
          <p:nvPr/>
        </p:nvSpPr>
        <p:spPr>
          <a:xfrm>
            <a:off x="685800" y="1234440"/>
            <a:ext cx="10820095" cy="731520"/>
          </a:xfrm>
          <a:prstGeom prst="rect">
            <a:avLst/>
          </a:prstGeom>
          <a:noFill/>
        </p:spPr>
        <p:txBody>
          <a:bodyPr wrap="none">
            <a:spAutoFit/>
          </a:bodyPr>
          <a:lstStyle/>
          <a:p>
            <a:pPr>
              <a:defRPr sz="3200" b="1">
                <a:solidFill>
                  <a:srgbClr val="FFFFFF"/>
                </a:solidFill>
                <a:latin typeface="Noto Sans JP"/>
              </a:defRPr>
            </a:pPr>
            <a:r>
              <a:t>Docker ＆ Google Cloud Run によるサーバーレスデプロイ</a:t>
            </a:r>
          </a:p>
        </p:txBody>
      </p:sp>
      <p:sp>
        <p:nvSpPr>
          <p:cNvPr id="7" name="Rectangle 6"/>
          <p:cNvSpPr/>
          <p:nvPr/>
        </p:nvSpPr>
        <p:spPr>
          <a:xfrm>
            <a:off x="685800" y="6126480"/>
            <a:ext cx="10820095" cy="13716"/>
          </a:xfrm>
          <a:prstGeom prst="rect">
            <a:avLst/>
          </a:prstGeom>
          <a:solidFill>
            <a:srgbClr val="1E0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6172200"/>
            <a:ext cx="5486400" cy="457200"/>
          </a:xfrm>
          <a:prstGeom prst="rect">
            <a:avLst/>
          </a:prstGeom>
          <a:noFill/>
        </p:spPr>
        <p:txBody>
          <a:bodyPr wrap="none">
            <a:spAutoFit/>
          </a:bodyPr>
          <a:lstStyle/>
          <a:p>
            <a:pPr>
              <a:defRPr sz="1000">
                <a:solidFill>
                  <a:srgbClr val="9F8FB3"/>
                </a:solidFill>
                <a:latin typeface="Outfit"/>
              </a:defRPr>
            </a:pPr>
            <a:r>
              <a:t>Gemini AI Hackathon 2026 // Presentation Deck</a:t>
            </a:r>
          </a:p>
        </p:txBody>
      </p:sp>
      <p:sp>
        <p:nvSpPr>
          <p:cNvPr id="9" name="TextBox 8"/>
          <p:cNvSpPr txBox="1"/>
          <p:nvPr/>
        </p:nvSpPr>
        <p:spPr>
          <a:xfrm>
            <a:off x="9601200" y="6172200"/>
            <a:ext cx="1904695" cy="457200"/>
          </a:xfrm>
          <a:prstGeom prst="rect">
            <a:avLst/>
          </a:prstGeom>
          <a:noFill/>
        </p:spPr>
        <p:txBody>
          <a:bodyPr wrap="none">
            <a:spAutoFit/>
          </a:bodyPr>
          <a:lstStyle/>
          <a:p>
            <a:pPr algn="r">
              <a:defRPr sz="1100" b="1">
                <a:solidFill>
                  <a:srgbClr val="FFFFFF"/>
                </a:solidFill>
                <a:latin typeface="Outfit"/>
              </a:defRPr>
            </a:pPr>
            <a:r>
              <a:t>Page 08</a:t>
            </a:r>
          </a:p>
        </p:txBody>
      </p:sp>
      <p:sp>
        <p:nvSpPr>
          <p:cNvPr id="10" name="Rounded Rectangle 9"/>
          <p:cNvSpPr/>
          <p:nvPr/>
        </p:nvSpPr>
        <p:spPr>
          <a:xfrm>
            <a:off x="685800" y="2103120"/>
            <a:ext cx="5120640" cy="3657600"/>
          </a:xfrm>
          <a:prstGeom prst="roundRect">
            <a:avLst/>
          </a:prstGeom>
          <a:solidFill>
            <a:srgbClr val="160B26"/>
          </a:solidFill>
          <a:ln w="19050">
            <a:solidFill>
              <a:srgbClr val="3C1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240280"/>
            <a:ext cx="4754880" cy="3383280"/>
          </a:xfrm>
          <a:prstGeom prst="rect">
            <a:avLst/>
          </a:prstGeom>
          <a:noFill/>
        </p:spPr>
        <p:txBody>
          <a:bodyPr wrap="square">
            <a:spAutoFit/>
          </a:bodyPr>
          <a:lstStyle/>
          <a:p>
            <a:pPr>
              <a:spcAft>
                <a:spcPts val="1200"/>
              </a:spcAft>
              <a:defRPr sz="1800" b="1">
                <a:solidFill>
                  <a:srgbClr val="00F0FF"/>
                </a:solidFill>
                <a:latin typeface="Noto Sans JP"/>
              </a:defRPr>
            </a:pPr>
            <a:r>
              <a:t>✦ デプロイ構成の真髄</a:t>
            </a:r>
          </a:p>
          <a:p>
            <a:pPr>
              <a:spcAft>
                <a:spcPts val="600"/>
              </a:spcAft>
              <a:defRPr sz="1200">
                <a:solidFill>
                  <a:srgbClr val="FFFFFF"/>
                </a:solidFill>
                <a:latin typeface="Noto Sans JP"/>
              </a:defRPr>
            </a:pPr>
            <a:r>
              <a:t>• Dockerコンテナ化: Nginxによる極小のAlpine Linuxイメージを定義し、軽量ポータビリティを担保。</a:t>
            </a:r>
          </a:p>
          <a:p>
            <a:pPr>
              <a:spcAft>
                <a:spcPts val="600"/>
              </a:spcAft>
              <a:defRPr sz="1200">
                <a:solidFill>
                  <a:srgbClr val="FFFFFF"/>
                </a:solidFill>
                <a:latin typeface="Noto Sans JP"/>
              </a:defRPr>
            </a:pPr>
            <a:r>
              <a:t>• Google Cloud Run: サーバーレス環境。常時起動（ミニマムインスタンス）設定により、起動遅延（コールドスタート）を完璧に根絶。</a:t>
            </a:r>
          </a:p>
          <a:p>
            <a:pPr>
              <a:spcAft>
                <a:spcPts val="600"/>
              </a:spcAft>
              <a:defRPr sz="1200">
                <a:solidFill>
                  <a:srgbClr val="FFFFFF"/>
                </a:solidFill>
                <a:latin typeface="Noto Sans JP"/>
              </a:defRPr>
            </a:pPr>
            <a:r>
              <a:t>• 完全常時HTTPS: カメラ・マイクのブラウザセキュリティポリシーに完全対応するためのセキュアなSSL通信の担保。</a:t>
            </a:r>
          </a:p>
        </p:txBody>
      </p:sp>
      <p:sp>
        <p:nvSpPr>
          <p:cNvPr id="12" name="Rounded Rectangle 11"/>
          <p:cNvSpPr/>
          <p:nvPr/>
        </p:nvSpPr>
        <p:spPr>
          <a:xfrm>
            <a:off x="6385255" y="2103120"/>
            <a:ext cx="5120640" cy="3657600"/>
          </a:xfrm>
          <a:prstGeom prst="roundRect">
            <a:avLst/>
          </a:prstGeom>
          <a:solidFill>
            <a:srgbClr val="160B26"/>
          </a:solidFill>
          <a:ln w="19050">
            <a:solidFill>
              <a:srgbClr val="3C1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68135" y="2240280"/>
            <a:ext cx="4754880" cy="3383280"/>
          </a:xfrm>
          <a:prstGeom prst="rect">
            <a:avLst/>
          </a:prstGeom>
          <a:noFill/>
        </p:spPr>
        <p:txBody>
          <a:bodyPr wrap="square">
            <a:spAutoFit/>
          </a:bodyPr>
          <a:lstStyle/>
          <a:p>
            <a:pPr>
              <a:spcAft>
                <a:spcPts val="1200"/>
              </a:spcAft>
              <a:defRPr sz="1800" b="1">
                <a:solidFill>
                  <a:srgbClr val="FF2A85"/>
                </a:solidFill>
                <a:latin typeface="Noto Sans JP"/>
              </a:defRPr>
            </a:pPr>
            <a:r>
              <a:t>✦ 動作検証テストガイド</a:t>
            </a:r>
          </a:p>
          <a:p>
            <a:pPr>
              <a:spcAft>
                <a:spcPts val="600"/>
              </a:spcAft>
              <a:defRPr sz="1200">
                <a:solidFill>
                  <a:srgbClr val="FFFFFF"/>
                </a:solidFill>
                <a:latin typeface="Noto Sans JP"/>
              </a:defRPr>
            </a:pPr>
            <a:r>
              <a:t>• Step 1: 「Start」をクリックし、マイクとカメラフィードを承認。</a:t>
            </a:r>
          </a:p>
          <a:p>
            <a:pPr>
              <a:spcAft>
                <a:spcPts val="600"/>
              </a:spcAft>
              <a:defRPr sz="1200">
                <a:solidFill>
                  <a:srgbClr val="FFFFFF"/>
                </a:solidFill>
                <a:latin typeface="Noto Sans JP"/>
              </a:defRPr>
            </a:pPr>
            <a:r>
              <a:t>• Step 2 (マイク拍動): 手拍子や声で白銀粒子が一斉バーストするのを確認。</a:t>
            </a:r>
          </a:p>
          <a:p>
            <a:pPr>
              <a:spcAft>
                <a:spcPts val="600"/>
              </a:spcAft>
              <a:defRPr sz="1200">
                <a:solidFill>
                  <a:srgbClr val="FFFFFF"/>
                </a:solidFill>
                <a:latin typeface="Noto Sans JP"/>
              </a:defRPr>
            </a:pPr>
            <a:r>
              <a:t>• Step 3 (感情大爆発): 顔の表情を「喜び」や「怒り」に変え、関節からゴールドや真紅の粒子が30〜50個規模で勢いよく大爆発するのを確認。</a:t>
            </a:r>
          </a:p>
          <a:p>
            <a:pPr>
              <a:spcAft>
                <a:spcPts val="600"/>
              </a:spcAft>
              <a:defRPr sz="1200">
                <a:solidFill>
                  <a:srgbClr val="FFFFFF"/>
                </a:solidFill>
                <a:latin typeface="Noto Sans JP"/>
              </a:defRPr>
            </a:pPr>
            <a:r>
              <a:t>• Step 4 (手スワイプ): 手を高速スワイプし、進行方向に物理弾が射出。</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1097280"/>
            <a:ext cx="10820095" cy="13716"/>
          </a:xfrm>
          <a:prstGeom prst="rect">
            <a:avLst/>
          </a:prstGeom>
          <a:solidFill>
            <a:srgbClr val="281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0040"/>
            <a:ext cx="4572000" cy="731520"/>
          </a:xfrm>
          <a:prstGeom prst="rect">
            <a:avLst/>
          </a:prstGeom>
          <a:noFill/>
        </p:spPr>
        <p:txBody>
          <a:bodyPr wrap="square">
            <a:spAutoFit/>
          </a:bodyPr>
          <a:lstStyle/>
          <a:p>
            <a:pPr>
              <a:defRPr sz="2400" b="1">
                <a:solidFill>
                  <a:srgbClr val="FF2A85"/>
                </a:solidFill>
                <a:latin typeface="Outfit"/>
              </a:defRPr>
            </a:pPr>
            <a:r>
              <a:t>✦ KinetiChord</a:t>
            </a:r>
          </a:p>
        </p:txBody>
      </p:sp>
      <p:sp>
        <p:nvSpPr>
          <p:cNvPr id="5" name="TextBox 4"/>
          <p:cNvSpPr txBox="1"/>
          <p:nvPr/>
        </p:nvSpPr>
        <p:spPr>
          <a:xfrm>
            <a:off x="7772400" y="365760"/>
            <a:ext cx="3733495" cy="731520"/>
          </a:xfrm>
          <a:prstGeom prst="rect">
            <a:avLst/>
          </a:prstGeom>
          <a:noFill/>
        </p:spPr>
        <p:txBody>
          <a:bodyPr wrap="none">
            <a:spAutoFit/>
          </a:bodyPr>
          <a:lstStyle/>
          <a:p>
            <a:pPr algn="r">
              <a:defRPr sz="1100" b="1">
                <a:solidFill>
                  <a:srgbClr val="00F0FF"/>
                </a:solidFill>
                <a:latin typeface="Outfit"/>
              </a:defRPr>
            </a:pPr>
            <a:r>
              <a:t>08. FUTURE VISION</a:t>
            </a:r>
          </a:p>
        </p:txBody>
      </p:sp>
      <p:sp>
        <p:nvSpPr>
          <p:cNvPr id="6" name="TextBox 5"/>
          <p:cNvSpPr txBox="1"/>
          <p:nvPr/>
        </p:nvSpPr>
        <p:spPr>
          <a:xfrm>
            <a:off x="685800" y="1234440"/>
            <a:ext cx="10820095" cy="731520"/>
          </a:xfrm>
          <a:prstGeom prst="rect">
            <a:avLst/>
          </a:prstGeom>
          <a:noFill/>
        </p:spPr>
        <p:txBody>
          <a:bodyPr wrap="none">
            <a:spAutoFit/>
          </a:bodyPr>
          <a:lstStyle/>
          <a:p>
            <a:pPr>
              <a:defRPr sz="3200" b="1">
                <a:solidFill>
                  <a:srgbClr val="FFFFFF"/>
                </a:solidFill>
                <a:latin typeface="Noto Sans JP"/>
              </a:defRPr>
            </a:pPr>
            <a:r>
              <a:t>KinetiChordが切り拓く将来の展望と可能性</a:t>
            </a:r>
          </a:p>
        </p:txBody>
      </p:sp>
      <p:sp>
        <p:nvSpPr>
          <p:cNvPr id="7" name="Rectangle 6"/>
          <p:cNvSpPr/>
          <p:nvPr/>
        </p:nvSpPr>
        <p:spPr>
          <a:xfrm>
            <a:off x="685800" y="6126480"/>
            <a:ext cx="10820095" cy="13716"/>
          </a:xfrm>
          <a:prstGeom prst="rect">
            <a:avLst/>
          </a:prstGeom>
          <a:solidFill>
            <a:srgbClr val="1E0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6172200"/>
            <a:ext cx="5486400" cy="457200"/>
          </a:xfrm>
          <a:prstGeom prst="rect">
            <a:avLst/>
          </a:prstGeom>
          <a:noFill/>
        </p:spPr>
        <p:txBody>
          <a:bodyPr wrap="none">
            <a:spAutoFit/>
          </a:bodyPr>
          <a:lstStyle/>
          <a:p>
            <a:pPr>
              <a:defRPr sz="1000">
                <a:solidFill>
                  <a:srgbClr val="9F8FB3"/>
                </a:solidFill>
                <a:latin typeface="Outfit"/>
              </a:defRPr>
            </a:pPr>
            <a:r>
              <a:t>Gemini AI Hackathon 2026 // Presentation Deck</a:t>
            </a:r>
          </a:p>
        </p:txBody>
      </p:sp>
      <p:sp>
        <p:nvSpPr>
          <p:cNvPr id="9" name="TextBox 8"/>
          <p:cNvSpPr txBox="1"/>
          <p:nvPr/>
        </p:nvSpPr>
        <p:spPr>
          <a:xfrm>
            <a:off x="9601200" y="6172200"/>
            <a:ext cx="1904695" cy="457200"/>
          </a:xfrm>
          <a:prstGeom prst="rect">
            <a:avLst/>
          </a:prstGeom>
          <a:noFill/>
        </p:spPr>
        <p:txBody>
          <a:bodyPr wrap="none">
            <a:spAutoFit/>
          </a:bodyPr>
          <a:lstStyle/>
          <a:p>
            <a:pPr algn="r">
              <a:defRPr sz="1100" b="1">
                <a:solidFill>
                  <a:srgbClr val="FFFFFF"/>
                </a:solidFill>
                <a:latin typeface="Outfit"/>
              </a:defRPr>
            </a:pPr>
            <a:r>
              <a:t>Page 09</a:t>
            </a:r>
          </a:p>
        </p:txBody>
      </p:sp>
      <p:sp>
        <p:nvSpPr>
          <p:cNvPr id="10" name="Rounded Rectangle 9"/>
          <p:cNvSpPr/>
          <p:nvPr/>
        </p:nvSpPr>
        <p:spPr>
          <a:xfrm>
            <a:off x="685800" y="3291840"/>
            <a:ext cx="3291840" cy="2560320"/>
          </a:xfrm>
          <a:prstGeom prst="roundRect">
            <a:avLst/>
          </a:prstGeom>
          <a:solidFill>
            <a:srgbClr val="160B26"/>
          </a:solidFill>
          <a:ln w="19050">
            <a:solidFill>
              <a:srgbClr val="3C1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429000"/>
            <a:ext cx="2926080" cy="2286000"/>
          </a:xfrm>
          <a:prstGeom prst="rect">
            <a:avLst/>
          </a:prstGeom>
          <a:noFill/>
        </p:spPr>
        <p:txBody>
          <a:bodyPr wrap="square">
            <a:spAutoFit/>
          </a:bodyPr>
          <a:lstStyle/>
          <a:p>
            <a:pPr>
              <a:spcAft>
                <a:spcPts val="1200"/>
              </a:spcAft>
              <a:defRPr sz="1800" b="1">
                <a:solidFill>
                  <a:srgbClr val="00F0FF"/>
                </a:solidFill>
                <a:latin typeface="Noto Sans JP"/>
              </a:defRPr>
            </a:pPr>
            <a:r>
              <a:t>✦ 1. XR空間展開 (VR/AR)</a:t>
            </a:r>
          </a:p>
          <a:p>
            <a:pPr>
              <a:spcAft>
                <a:spcPts val="600"/>
              </a:spcAft>
              <a:defRPr sz="1200">
                <a:solidFill>
                  <a:srgbClr val="FFFFFF"/>
                </a:solidFill>
                <a:latin typeface="Noto Sans JP"/>
              </a:defRPr>
            </a:pPr>
            <a:r>
              <a:t>• Apple Vision Pro等の3Dハンドトラッキングセンサーと統合。</a:t>
            </a:r>
          </a:p>
          <a:p>
            <a:pPr>
              <a:spcAft>
                <a:spcPts val="600"/>
              </a:spcAft>
              <a:defRPr sz="1200">
                <a:solidFill>
                  <a:srgbClr val="FFFFFF"/>
                </a:solidFill>
                <a:latin typeface="Noto Sans JP"/>
              </a:defRPr>
            </a:pPr>
            <a:r>
              <a:t>• 全方位の3D空間全体へ手から数万個の音響粒子を放つ、メタバース・アートへ進化。</a:t>
            </a:r>
          </a:p>
        </p:txBody>
      </p:sp>
      <p:sp>
        <p:nvSpPr>
          <p:cNvPr id="12" name="Rounded Rectangle 11"/>
          <p:cNvSpPr/>
          <p:nvPr/>
        </p:nvSpPr>
        <p:spPr>
          <a:xfrm>
            <a:off x="4449470" y="3291840"/>
            <a:ext cx="3291840" cy="2560320"/>
          </a:xfrm>
          <a:prstGeom prst="roundRect">
            <a:avLst/>
          </a:prstGeom>
          <a:solidFill>
            <a:srgbClr val="160B26"/>
          </a:solidFill>
          <a:ln w="19050">
            <a:solidFill>
              <a:srgbClr val="3C1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2350" y="3429000"/>
            <a:ext cx="2926080" cy="2286000"/>
          </a:xfrm>
          <a:prstGeom prst="rect">
            <a:avLst/>
          </a:prstGeom>
          <a:noFill/>
        </p:spPr>
        <p:txBody>
          <a:bodyPr wrap="square">
            <a:spAutoFit/>
          </a:bodyPr>
          <a:lstStyle/>
          <a:p>
            <a:pPr>
              <a:spcAft>
                <a:spcPts val="1200"/>
              </a:spcAft>
              <a:defRPr sz="1800" b="1">
                <a:solidFill>
                  <a:srgbClr val="FF2A85"/>
                </a:solidFill>
                <a:latin typeface="Noto Sans JP"/>
              </a:defRPr>
            </a:pPr>
            <a:r>
              <a:t>✦ 2. 外部DAW連携 (MIDI)</a:t>
            </a:r>
          </a:p>
          <a:p>
            <a:pPr>
              <a:spcAft>
                <a:spcPts val="600"/>
              </a:spcAft>
              <a:defRPr sz="1200">
                <a:solidFill>
                  <a:srgbClr val="FFFFFF"/>
                </a:solidFill>
                <a:latin typeface="Noto Sans JP"/>
              </a:defRPr>
            </a:pPr>
            <a:r>
              <a:t>• Web MIDI API経由でAbleton LiveやLogic Pro等のプロ音楽ソフトと直結。</a:t>
            </a:r>
          </a:p>
          <a:p>
            <a:pPr>
              <a:spcAft>
                <a:spcPts val="600"/>
              </a:spcAft>
              <a:defRPr sz="1200">
                <a:solidFill>
                  <a:srgbClr val="FFFFFF"/>
                </a:solidFill>
                <a:latin typeface="Noto Sans JP"/>
              </a:defRPr>
            </a:pPr>
            <a:r>
              <a:t>• ダンサーの身体そのものがシンセを狂暴に変調させる、身体シンセ。</a:t>
            </a:r>
          </a:p>
        </p:txBody>
      </p:sp>
      <p:sp>
        <p:nvSpPr>
          <p:cNvPr id="14" name="Rounded Rectangle 13"/>
          <p:cNvSpPr/>
          <p:nvPr/>
        </p:nvSpPr>
        <p:spPr>
          <a:xfrm>
            <a:off x="8214055" y="3291840"/>
            <a:ext cx="3291840" cy="2560320"/>
          </a:xfrm>
          <a:prstGeom prst="roundRect">
            <a:avLst/>
          </a:prstGeom>
          <a:solidFill>
            <a:srgbClr val="160B26"/>
          </a:solidFill>
          <a:ln w="19050">
            <a:solidFill>
              <a:srgbClr val="3C1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96935" y="3429000"/>
            <a:ext cx="2926080" cy="2286000"/>
          </a:xfrm>
          <a:prstGeom prst="rect">
            <a:avLst/>
          </a:prstGeom>
          <a:noFill/>
        </p:spPr>
        <p:txBody>
          <a:bodyPr wrap="square">
            <a:spAutoFit/>
          </a:bodyPr>
          <a:lstStyle/>
          <a:p>
            <a:pPr>
              <a:spcAft>
                <a:spcPts val="1200"/>
              </a:spcAft>
              <a:defRPr sz="1800" b="1">
                <a:solidFill>
                  <a:srgbClr val="FFD700"/>
                </a:solidFill>
                <a:latin typeface="Noto Sans JP"/>
              </a:defRPr>
            </a:pPr>
            <a:r>
              <a:t>✦ 3. ライブプロジェクション</a:t>
            </a:r>
          </a:p>
          <a:p>
            <a:pPr>
              <a:spcAft>
                <a:spcPts val="600"/>
              </a:spcAft>
              <a:defRPr sz="1200">
                <a:solidFill>
                  <a:srgbClr val="FFFFFF"/>
                </a:solidFill>
                <a:latin typeface="Noto Sans JP"/>
              </a:defRPr>
            </a:pPr>
            <a:r>
              <a:t>• 高輝度プロジェクターを使用し、ダンスステージに3Dアバターをリアルタイム投影。</a:t>
            </a:r>
          </a:p>
          <a:p>
            <a:pPr>
              <a:spcAft>
                <a:spcPts val="600"/>
              </a:spcAft>
              <a:defRPr sz="1200">
                <a:solidFill>
                  <a:srgbClr val="FFFFFF"/>
                </a:solidFill>
                <a:latin typeface="Noto Sans JP"/>
              </a:defRPr>
            </a:pPr>
            <a:r>
              <a:t>• 演者の身体と劇的なリアルタイム視覚エフェクトが寸分の遅れもなく共鳴。</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362895" cy="2286000"/>
          </a:xfrm>
          <a:prstGeom prst="rect">
            <a:avLst/>
          </a:prstGeom>
          <a:noFill/>
        </p:spPr>
        <p:txBody>
          <a:bodyPr wrap="square">
            <a:spAutoFit/>
          </a:bodyPr>
          <a:lstStyle/>
          <a:p>
            <a:pPr algn="ctr">
              <a:spcAft>
                <a:spcPts val="2000"/>
              </a:spcAft>
              <a:defRPr sz="3600" b="1">
                <a:solidFill>
                  <a:srgbClr val="00F0FF"/>
                </a:solidFill>
                <a:latin typeface="Noto Sans JP"/>
              </a:defRPr>
            </a:pPr>
            <a:r>
              <a:t>身体は楽器になり、感情は光となる。</a:t>
            </a:r>
          </a:p>
          <a:p>
            <a:pPr algn="ctr">
              <a:defRPr sz="7200" b="1">
                <a:solidFill>
                  <a:srgbClr val="FFFFFF"/>
                </a:solidFill>
                <a:latin typeface="Outfit"/>
              </a:defRPr>
            </a:pPr>
            <a:r>
              <a:t>Thank You.</a:t>
            </a:r>
          </a:p>
          <a:p>
            <a:pPr algn="ctr">
              <a:spcBef>
                <a:spcPts val="1000"/>
              </a:spcBef>
              <a:defRPr sz="2000">
                <a:solidFill>
                  <a:srgbClr val="9F8FB3"/>
                </a:solidFill>
                <a:latin typeface="Noto Sans JP"/>
              </a:defRPr>
            </a:pPr>
            <a:r>
              <a:t>ご清聴ありがとうございました。</a:t>
            </a:r>
          </a:p>
        </p:txBody>
      </p:sp>
      <p:sp>
        <p:nvSpPr>
          <p:cNvPr id="4" name="Rectangle 3"/>
          <p:cNvSpPr/>
          <p:nvPr/>
        </p:nvSpPr>
        <p:spPr>
          <a:xfrm>
            <a:off x="4266590" y="4572000"/>
            <a:ext cx="3657600" cy="36576"/>
          </a:xfrm>
          <a:prstGeom prst="rect">
            <a:avLst/>
          </a:prstGeom>
          <a:solidFill>
            <a:srgbClr val="FF2A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846320"/>
            <a:ext cx="10362895" cy="1371600"/>
          </a:xfrm>
          <a:prstGeom prst="rect">
            <a:avLst/>
          </a:prstGeom>
          <a:noFill/>
        </p:spPr>
        <p:txBody>
          <a:bodyPr wrap="none">
            <a:spAutoFit/>
          </a:bodyPr>
          <a:lstStyle/>
          <a:p>
            <a:pPr algn="ctr">
              <a:defRPr sz="1400">
                <a:solidFill>
                  <a:srgbClr val="FFFFFF"/>
                </a:solidFill>
                <a:latin typeface="Outfit"/>
              </a:defRPr>
            </a:pPr>
            <a:r>
              <a:t>Project Repository: github.com/maa0917/KinetiChord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